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7"/>
  </p:notesMasterIdLst>
  <p:handoutMasterIdLst>
    <p:handoutMasterId r:id="rId18"/>
  </p:handoutMasterIdLst>
  <p:sldIdLst>
    <p:sldId id="312" r:id="rId5"/>
    <p:sldId id="307" r:id="rId6"/>
    <p:sldId id="281" r:id="rId7"/>
    <p:sldId id="282" r:id="rId8"/>
    <p:sldId id="323" r:id="rId9"/>
    <p:sldId id="317" r:id="rId10"/>
    <p:sldId id="321" r:id="rId11"/>
    <p:sldId id="324" r:id="rId12"/>
    <p:sldId id="322" r:id="rId13"/>
    <p:sldId id="318" r:id="rId14"/>
    <p:sldId id="319" r:id="rId15"/>
    <p:sldId id="297" r:id="rId16"/>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178822-FA7F-A9F0-E190-FA513D2E3271}" v="327" dt="2025-08-18T15:35:05.142"/>
    <p1510:client id="{AEBBB1B8-100C-450E-8697-9A33DC02A53C}" v="521" dt="2025-08-18T15:36:58.777"/>
  </p1510:revLst>
</p1510:revInfo>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88" autoAdjust="0"/>
  </p:normalViewPr>
  <p:slideViewPr>
    <p:cSldViewPr snapToGrid="0" snapToObjects="1">
      <p:cViewPr varScale="1">
        <p:scale>
          <a:sx n="55" d="100"/>
          <a:sy n="55" d="100"/>
        </p:scale>
        <p:origin x="1096" y="36"/>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476683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5088148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10138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mdpi.com/1662480"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journal.unnes.ac.id/journals/sji/article/view/6007"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s://www.ijsrst.technoscienceacademy.com/index.php/home/article/view/IJSRST52411223" TargetMode="External"/><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hyperlink" Target="https://www.degruyterbrill.com/document/doi/10.1515/comp-2022-0240/html" TargetMode="Externa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link.springer.com/article/10.1007/s12652-024-04761-7" TargetMode="External"/><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hyperlink" Target="https://link.springer.com/article/10.1007/s11042-024-18583-4" TargetMode="External"/><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8" Type="http://schemas.openxmlformats.org/officeDocument/2006/relationships/hyperlink" Target="https://ieeexplore.ieee.org/abstract/document/10369455" TargetMode="External"/><Relationship Id="rId3" Type="http://schemas.openxmlformats.org/officeDocument/2006/relationships/hyperlink" Target="https://ieeexplore.ieee.org/author/223064991160413" TargetMode="External"/><Relationship Id="rId7" Type="http://schemas.openxmlformats.org/officeDocument/2006/relationships/hyperlink" Target="https://ieeexplore.ieee.org/author/829216075332128" TargetMode="External"/><Relationship Id="rId2" Type="http://schemas.openxmlformats.org/officeDocument/2006/relationships/hyperlink" Target="https://ieeexplore.ieee.org/author/37088071216" TargetMode="External"/><Relationship Id="rId1" Type="http://schemas.openxmlformats.org/officeDocument/2006/relationships/slideLayout" Target="../slideLayouts/slideLayout3.xml"/><Relationship Id="rId6" Type="http://schemas.openxmlformats.org/officeDocument/2006/relationships/hyperlink" Target="https://ieeexplore.ieee.org/author/37088926181" TargetMode="External"/><Relationship Id="rId5" Type="http://schemas.openxmlformats.org/officeDocument/2006/relationships/hyperlink" Target="https://ieeexplore.ieee.org/author/265666437998446" TargetMode="External"/><Relationship Id="rId4" Type="http://schemas.openxmlformats.org/officeDocument/2006/relationships/hyperlink" Target="https://ieeexplore.ieee.org/author/37089827884"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jet-m.com/wp-content/uploads/178-JETM8743.pdf" TargetMode="External"/><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8" Type="http://schemas.openxmlformats.org/officeDocument/2006/relationships/hyperlink" Target="https://ieeexplore.ieee.org/abstract/document/10467736" TargetMode="External"/><Relationship Id="rId3" Type="http://schemas.openxmlformats.org/officeDocument/2006/relationships/hyperlink" Target="https://ieeexplore.ieee.org/author/941955262121080" TargetMode="External"/><Relationship Id="rId7" Type="http://schemas.openxmlformats.org/officeDocument/2006/relationships/hyperlink" Target="https://ieeexplore.ieee.org/author/37547651100" TargetMode="External"/><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hyperlink" Target="https://ieeexplore.ieee.org/author/485951109952333" TargetMode="External"/><Relationship Id="rId5" Type="http://schemas.openxmlformats.org/officeDocument/2006/relationships/hyperlink" Target="https://ieeexplore.ieee.org/author/435101573595499" TargetMode="External"/><Relationship Id="rId4" Type="http://schemas.openxmlformats.org/officeDocument/2006/relationships/hyperlink" Target="https://ieeexplore.ieee.org/author/708372541067567"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grjnst.net/index.php/view/article/view/103" TargetMode="External"/><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sz="4900" b="0" dirty="0">
                <a:latin typeface="+mn-lt"/>
                <a:ea typeface="Nirmala Text" panose="020B0502040204020203" pitchFamily="34" charset="0"/>
                <a:cs typeface="Nirmala Text" panose="020B0502040204020203" pitchFamily="34" charset="0"/>
              </a:rPr>
              <a:t>Sign Language</a:t>
            </a:r>
            <a:br>
              <a:rPr lang="en-US" sz="4900" b="0" dirty="0">
                <a:latin typeface="+mn-lt"/>
                <a:ea typeface="Nirmala Text" panose="020B0502040204020203" pitchFamily="34" charset="0"/>
                <a:cs typeface="Nirmala Text" panose="020B0502040204020203" pitchFamily="34" charset="0"/>
              </a:rPr>
            </a:br>
            <a:r>
              <a:rPr lang="en-US" sz="4900" b="0" dirty="0">
                <a:latin typeface="+mn-lt"/>
                <a:ea typeface="Nirmala Text" panose="020B0502040204020203" pitchFamily="34" charset="0"/>
                <a:cs typeface="Nirmala Text" panose="020B0502040204020203" pitchFamily="34" charset="0"/>
              </a:rPr>
              <a:t>detection system</a:t>
            </a:r>
          </a:p>
          <a:p>
            <a:endParaRPr lang="en-US" dirty="0">
              <a:solidFill>
                <a:schemeClr val="tx1"/>
              </a:solidFill>
            </a:endParaRP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756613" y="206477"/>
            <a:ext cx="9065814" cy="1563329"/>
          </a:xfrm>
        </p:spPr>
        <p:txBody>
          <a:bodyPr/>
          <a:lstStyle/>
          <a:p>
            <a:r>
              <a:rPr lang="en-US" sz="2800" dirty="0" err="1"/>
              <a:t>Deepsign</a:t>
            </a:r>
            <a:r>
              <a:rPr lang="en-US" sz="2800" dirty="0"/>
              <a:t>: Sign Language Detection and Recognition Using Deep Learning(2022)</a:t>
            </a:r>
            <a:br>
              <a:rPr lang="en-US" dirty="0"/>
            </a:br>
            <a:r>
              <a:rPr lang="en-US" sz="1400" cap="none" dirty="0"/>
              <a:t>By Deep </a:t>
            </a:r>
            <a:r>
              <a:rPr lang="en-US" sz="1400" cap="none" dirty="0" err="1"/>
              <a:t>Kothadiya</a:t>
            </a:r>
            <a:r>
              <a:rPr lang="en-US" sz="1400" cap="none" dirty="0"/>
              <a:t>, Chintan Bhatt, Krenil </a:t>
            </a:r>
            <a:r>
              <a:rPr lang="en-US" sz="1400" cap="none" dirty="0" err="1"/>
              <a:t>Sapariya</a:t>
            </a:r>
            <a:r>
              <a:rPr lang="en-US" sz="1400" cap="none" dirty="0"/>
              <a:t>, Kevin Patel, Ana Belen</a:t>
            </a:r>
            <a:endParaRPr lang="en-US" dirty="0"/>
          </a:p>
        </p:txBody>
      </p:sp>
      <p:sp>
        <p:nvSpPr>
          <p:cNvPr id="6" name="TextBox 5">
            <a:extLst>
              <a:ext uri="{FF2B5EF4-FFF2-40B4-BE49-F238E27FC236}">
                <a16:creationId xmlns:a16="http://schemas.microsoft.com/office/drawing/2014/main" id="{62F6EB6F-796C-52D6-4283-BC250F999572}"/>
              </a:ext>
            </a:extLst>
          </p:cNvPr>
          <p:cNvSpPr txBox="1"/>
          <p:nvPr/>
        </p:nvSpPr>
        <p:spPr>
          <a:xfrm>
            <a:off x="756613" y="1877961"/>
            <a:ext cx="9439439" cy="341632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dirty="0">
                <a:solidFill>
                  <a:schemeClr val="tx2"/>
                </a:solidFill>
                <a:latin typeface="Sabon Next LT"/>
                <a:cs typeface="Sabon Next LT"/>
              </a:rPr>
              <a:t>This paper presents a deep learning-based model for recognizing Indian Sign Language (ISL) gestures to help overcome communication barriers for people with hearing or speech impairments.</a:t>
            </a:r>
          </a:p>
          <a:p>
            <a:pPr marL="285750" indent="-285750">
              <a:buFont typeface="Arial" panose="020B0604020202020204" pitchFamily="34" charset="0"/>
              <a:buChar char="•"/>
            </a:pPr>
            <a:r>
              <a:rPr lang="en-US" dirty="0">
                <a:solidFill>
                  <a:schemeClr val="tx2"/>
                </a:solidFill>
                <a:latin typeface="Sabon Next LT"/>
                <a:cs typeface="Sabon Next LT"/>
              </a:rPr>
              <a:t> The authors used combinations of LSTM and GRU layers on their IISL2020 dataset, which includes isolated signs such as </a:t>
            </a:r>
            <a:r>
              <a:rPr lang="en-US" i="1" dirty="0">
                <a:solidFill>
                  <a:schemeClr val="tx2"/>
                </a:solidFill>
                <a:latin typeface="Sabon Next LT"/>
                <a:cs typeface="Sabon Next LT"/>
              </a:rPr>
              <a:t>hello</a:t>
            </a:r>
            <a:r>
              <a:rPr lang="en-US" dirty="0">
                <a:solidFill>
                  <a:schemeClr val="tx2"/>
                </a:solidFill>
                <a:latin typeface="Sabon Next LT"/>
                <a:cs typeface="Sabon Next LT"/>
              </a:rPr>
              <a:t>, </a:t>
            </a:r>
            <a:r>
              <a:rPr lang="en-US" i="1" dirty="0">
                <a:solidFill>
                  <a:schemeClr val="tx2"/>
                </a:solidFill>
                <a:latin typeface="Sabon Next LT"/>
                <a:cs typeface="Sabon Next LT"/>
              </a:rPr>
              <a:t>good morning</a:t>
            </a:r>
            <a:r>
              <a:rPr lang="en-US" dirty="0">
                <a:solidFill>
                  <a:schemeClr val="tx2"/>
                </a:solidFill>
                <a:latin typeface="Sabon Next LT"/>
                <a:cs typeface="Sabon Next LT"/>
              </a:rPr>
              <a:t>, and </a:t>
            </a:r>
            <a:r>
              <a:rPr lang="en-US" i="1" dirty="0">
                <a:solidFill>
                  <a:schemeClr val="tx2"/>
                </a:solidFill>
                <a:latin typeface="Sabon Next LT"/>
                <a:cs typeface="Sabon Next LT"/>
              </a:rPr>
              <a:t>work</a:t>
            </a:r>
            <a:r>
              <a:rPr lang="en-US" dirty="0">
                <a:solidFill>
                  <a:schemeClr val="tx2"/>
                </a:solidFill>
                <a:latin typeface="Sabon Next LT"/>
                <a:cs typeface="Sabon Next LT"/>
              </a:rPr>
              <a:t>.</a:t>
            </a:r>
          </a:p>
          <a:p>
            <a:pPr marL="285750" indent="-285750">
              <a:buFont typeface="Arial" panose="020B0604020202020204" pitchFamily="34" charset="0"/>
              <a:buChar char="•"/>
            </a:pPr>
            <a:r>
              <a:rPr lang="en-US" dirty="0">
                <a:solidFill>
                  <a:schemeClr val="tx2"/>
                </a:solidFill>
                <a:latin typeface="Sabon Next LT"/>
                <a:cs typeface="Sabon Next LT"/>
              </a:rPr>
              <a:t> Their best model, consisting of one LSTM layer followed by one GRU layer, achieved about 97% accuracy across 11 different signs.</a:t>
            </a:r>
          </a:p>
          <a:p>
            <a:pPr marL="285750" indent="-285750">
              <a:buFont typeface="Arial" panose="020B0604020202020204" pitchFamily="34" charset="0"/>
              <a:buChar char="•"/>
            </a:pPr>
            <a:r>
              <a:rPr lang="en-US" dirty="0">
                <a:solidFill>
                  <a:schemeClr val="tx2"/>
                </a:solidFill>
                <a:latin typeface="Sabon Next LT"/>
                <a:cs typeface="Sabon Next LT"/>
              </a:rPr>
              <a:t> The study shows that combining LSTM and GRU improves recognition performance. Although the system currently works only for isolated signs, future improvements could include handling continuous sign language, creating larger and more diverse datasets, testing different camera angles, using wearable devices, and applying advanced models like vision transformers to further increase accuracy.</a:t>
            </a:r>
            <a:endParaRPr lang="en-IN" dirty="0">
              <a:solidFill>
                <a:schemeClr val="tx2"/>
              </a:solidFill>
              <a:cs typeface="Sabon Next LT"/>
            </a:endParaRPr>
          </a:p>
        </p:txBody>
      </p:sp>
      <p:sp>
        <p:nvSpPr>
          <p:cNvPr id="9" name="TextBox 8">
            <a:extLst>
              <a:ext uri="{FF2B5EF4-FFF2-40B4-BE49-F238E27FC236}">
                <a16:creationId xmlns:a16="http://schemas.microsoft.com/office/drawing/2014/main" id="{F6CD1E5C-AFA1-4D16-2150-5E6539565D7A}"/>
              </a:ext>
            </a:extLst>
          </p:cNvPr>
          <p:cNvSpPr txBox="1"/>
          <p:nvPr/>
        </p:nvSpPr>
        <p:spPr>
          <a:xfrm>
            <a:off x="4422057" y="5333379"/>
            <a:ext cx="3347885" cy="369332"/>
          </a:xfrm>
          <a:prstGeom prst="rect">
            <a:avLst/>
          </a:prstGeom>
          <a:noFill/>
        </p:spPr>
        <p:txBody>
          <a:bodyPr wrap="square">
            <a:spAutoFit/>
          </a:bodyPr>
          <a:lstStyle/>
          <a:p>
            <a:r>
              <a:rPr lang="en-IN" dirty="0">
                <a:hlinkClick r:id="rId3"/>
              </a:rPr>
              <a:t>https://www.mdpi.com/1662480</a:t>
            </a:r>
            <a:endParaRPr lang="en-IN" dirty="0"/>
          </a:p>
        </p:txBody>
      </p:sp>
    </p:spTree>
    <p:extLst>
      <p:ext uri="{BB962C8B-B14F-4D97-AF65-F5344CB8AC3E}">
        <p14:creationId xmlns:p14="http://schemas.microsoft.com/office/powerpoint/2010/main" val="2906491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560439" y="511277"/>
            <a:ext cx="11080955" cy="1877962"/>
          </a:xfrm>
        </p:spPr>
        <p:txBody>
          <a:bodyPr/>
          <a:lstStyle/>
          <a:p>
            <a:r>
              <a:rPr lang="en-US" sz="2800" dirty="0"/>
              <a:t>Sign Language Detection System Using YOLOv5 Algorithm to Promote Communication Equality People with Disabilities(2024)</a:t>
            </a:r>
            <a:br>
              <a:rPr lang="en-US" dirty="0"/>
            </a:br>
            <a:r>
              <a:rPr lang="en-US" sz="1400" cap="none" dirty="0"/>
              <a:t>By </a:t>
            </a:r>
            <a:r>
              <a:rPr lang="en-IN" sz="1400" cap="none" dirty="0" err="1"/>
              <a:t>Maylinna</a:t>
            </a:r>
            <a:r>
              <a:rPr lang="en-IN" sz="1400" cap="none" dirty="0"/>
              <a:t> Rahayu Ningsih, </a:t>
            </a:r>
            <a:r>
              <a:rPr lang="en-IN" sz="1400" cap="none" dirty="0" err="1"/>
              <a:t>Yopi</a:t>
            </a:r>
            <a:r>
              <a:rPr lang="en-IN" sz="1400" cap="none" dirty="0"/>
              <a:t> Julia </a:t>
            </a:r>
            <a:r>
              <a:rPr lang="en-IN" sz="1400" cap="none" dirty="0" err="1"/>
              <a:t>Nurriski</a:t>
            </a:r>
            <a:r>
              <a:rPr lang="en-IN" sz="1400" cap="none" dirty="0"/>
              <a:t>, M. Faris Al Hakim</a:t>
            </a:r>
            <a:br>
              <a:rPr lang="en-IN" sz="1400" cap="none" dirty="0"/>
            </a:br>
            <a:endParaRPr lang="en-US" sz="1400" dirty="0"/>
          </a:p>
        </p:txBody>
      </p:sp>
      <p:sp>
        <p:nvSpPr>
          <p:cNvPr id="3" name="Text Placeholder 2">
            <a:extLst>
              <a:ext uri="{FF2B5EF4-FFF2-40B4-BE49-F238E27FC236}">
                <a16:creationId xmlns:a16="http://schemas.microsoft.com/office/drawing/2014/main" id="{A2E339BF-E6D7-DD0E-AF02-6813852EE723}"/>
              </a:ext>
            </a:extLst>
          </p:cNvPr>
          <p:cNvSpPr>
            <a:spLocks noGrp="1"/>
          </p:cNvSpPr>
          <p:nvPr>
            <p:ph idx="1"/>
          </p:nvPr>
        </p:nvSpPr>
        <p:spPr>
          <a:xfrm>
            <a:off x="1170038" y="2658375"/>
            <a:ext cx="10028903" cy="2233233"/>
          </a:xfrm>
        </p:spPr>
        <p:txBody>
          <a:bodyPr>
            <a:noAutofit/>
          </a:bodyPr>
          <a:lstStyle/>
          <a:p>
            <a:pPr marL="342900" indent="-342900">
              <a:buFont typeface="Arial" panose="020B0604020202020204" pitchFamily="34" charset="0"/>
              <a:buChar char="•"/>
            </a:pPr>
            <a:r>
              <a:rPr lang="en-US" sz="2000" dirty="0">
                <a:solidFill>
                  <a:schemeClr val="tx2"/>
                </a:solidFill>
              </a:rPr>
              <a:t>This research focuses on improving accessibility for people with hearing or speech impairments by developing a BISINDO (</a:t>
            </a:r>
            <a:r>
              <a:rPr lang="en-IN" sz="2000" dirty="0"/>
              <a:t>Bahasa </a:t>
            </a:r>
            <a:r>
              <a:rPr lang="en-IN" sz="2000" dirty="0" err="1"/>
              <a:t>Isyarat</a:t>
            </a:r>
            <a:r>
              <a:rPr lang="en-IN" sz="2000" dirty="0"/>
              <a:t> Indonesia) </a:t>
            </a:r>
            <a:r>
              <a:rPr lang="en-US" sz="2000" dirty="0">
                <a:solidFill>
                  <a:schemeClr val="tx2"/>
                </a:solidFill>
              </a:rPr>
              <a:t>sign language detection system using YOLOv5-NAS-S.</a:t>
            </a:r>
          </a:p>
          <a:p>
            <a:pPr marL="342900" indent="-342900">
              <a:buFont typeface="Arial" panose="020B0604020202020204" pitchFamily="34" charset="0"/>
              <a:buChar char="•"/>
            </a:pPr>
            <a:r>
              <a:rPr lang="en-US" sz="2000" dirty="0">
                <a:solidFill>
                  <a:schemeClr val="tx2"/>
                </a:solidFill>
              </a:rPr>
              <a:t> The goal was to create a model that is both fast and accurate, addressing communication gaps in areas like education and employment, in line with Sustainable Development Goals (SDGs) 4, 8, and 10. </a:t>
            </a:r>
          </a:p>
          <a:p>
            <a:pPr marL="342900" indent="-342900">
              <a:buFont typeface="Arial" panose="020B0604020202020204" pitchFamily="34" charset="0"/>
              <a:buChar char="•"/>
            </a:pPr>
            <a:r>
              <a:rPr lang="en-US" sz="2000" dirty="0">
                <a:solidFill>
                  <a:schemeClr val="tx2"/>
                </a:solidFill>
              </a:rPr>
              <a:t>The proposed model achieved a mean Average Precision (</a:t>
            </a:r>
            <a:r>
              <a:rPr lang="en-US" sz="2000" dirty="0" err="1">
                <a:solidFill>
                  <a:schemeClr val="tx2"/>
                </a:solidFill>
              </a:rPr>
              <a:t>mAP</a:t>
            </a:r>
            <a:r>
              <a:rPr lang="en-US" sz="2000" dirty="0">
                <a:solidFill>
                  <a:schemeClr val="tx2"/>
                </a:solidFill>
              </a:rPr>
              <a:t>) of 97.2% and a Recall of 99.6%, demonstrating strong performance in distinguishing different sign language classes. </a:t>
            </a:r>
          </a:p>
          <a:p>
            <a:pPr marL="342900" indent="-342900">
              <a:buFont typeface="Arial" panose="020B0604020202020204" pitchFamily="34" charset="0"/>
              <a:buChar char="•"/>
            </a:pPr>
            <a:r>
              <a:rPr lang="en-US" sz="2000" dirty="0">
                <a:solidFill>
                  <a:schemeClr val="tx2"/>
                </a:solidFill>
              </a:rPr>
              <a:t>Beyond simple recognition, the system can also handle complex conditions consistently, making it a reliable tool for supporting people with communication challenges.</a:t>
            </a:r>
          </a:p>
        </p:txBody>
      </p:sp>
      <p:sp>
        <p:nvSpPr>
          <p:cNvPr id="8" name="TextBox 7">
            <a:extLst>
              <a:ext uri="{FF2B5EF4-FFF2-40B4-BE49-F238E27FC236}">
                <a16:creationId xmlns:a16="http://schemas.microsoft.com/office/drawing/2014/main" id="{4CC08128-9591-1D46-AFAE-4E1C7768D215}"/>
              </a:ext>
            </a:extLst>
          </p:cNvPr>
          <p:cNvSpPr txBox="1"/>
          <p:nvPr/>
        </p:nvSpPr>
        <p:spPr>
          <a:xfrm>
            <a:off x="3224981" y="6162057"/>
            <a:ext cx="6105832" cy="369332"/>
          </a:xfrm>
          <a:prstGeom prst="rect">
            <a:avLst/>
          </a:prstGeom>
          <a:noFill/>
        </p:spPr>
        <p:txBody>
          <a:bodyPr wrap="square">
            <a:spAutoFit/>
          </a:bodyPr>
          <a:lstStyle/>
          <a:p>
            <a:r>
              <a:rPr lang="en-IN" dirty="0">
                <a:hlinkClick r:id="rId3"/>
              </a:rPr>
              <a:t>https://journal.unnes.ac.id/journals/sji/article/view/6007</a:t>
            </a:r>
            <a:endParaRPr lang="en-IN" dirty="0"/>
          </a:p>
        </p:txBody>
      </p:sp>
    </p:spTree>
    <p:extLst>
      <p:ext uri="{BB962C8B-B14F-4D97-AF65-F5344CB8AC3E}">
        <p14:creationId xmlns:p14="http://schemas.microsoft.com/office/powerpoint/2010/main" val="2952923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462116" y="186814"/>
            <a:ext cx="11737116" cy="1160205"/>
          </a:xfrm>
        </p:spPr>
        <p:txBody>
          <a:bodyPr/>
          <a:lstStyle/>
          <a:p>
            <a:r>
              <a:rPr lang="en-US" sz="2800" dirty="0">
                <a:ea typeface="Noto Sans"/>
                <a:cs typeface="Noto Sans"/>
              </a:rPr>
              <a:t>Sign Language Detection and Recognition Using Media Pipe and Deep Learning Algorithm(2024)</a:t>
            </a:r>
          </a:p>
          <a:p>
            <a:r>
              <a:rPr lang="en-US" sz="1200" dirty="0">
                <a:ea typeface="+mj-lt"/>
                <a:cs typeface="+mj-lt"/>
              </a:rPr>
              <a:t>By:  Ms. E. J. Honesty </a:t>
            </a:r>
            <a:r>
              <a:rPr lang="en-US" sz="1200" dirty="0" err="1">
                <a:ea typeface="+mj-lt"/>
                <a:cs typeface="+mj-lt"/>
              </a:rPr>
              <a:t>Praiselin</a:t>
            </a:r>
            <a:r>
              <a:rPr lang="en-US" sz="1200" dirty="0">
                <a:ea typeface="+mj-lt"/>
                <a:cs typeface="+mj-lt"/>
              </a:rPr>
              <a:t>, Dr. G. Manikandan, Ms. Vilma Veronica, Ms. S. Hemalatha</a:t>
            </a:r>
            <a:endParaRPr lang="en-US" sz="1200" dirty="0"/>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3177886" y="2121782"/>
            <a:ext cx="7819784" cy="3964386"/>
          </a:xfrm>
        </p:spPr>
        <p:txBody>
          <a:bodyPr vert="horz" lIns="91440" tIns="0" rIns="91440" bIns="0" rtlCol="0" anchor="t">
            <a:normAutofit fontScale="85000" lnSpcReduction="10000"/>
          </a:bodyPr>
          <a:lstStyle/>
          <a:p>
            <a:r>
              <a:rPr lang="en-US" sz="2000" dirty="0">
                <a:solidFill>
                  <a:schemeClr val="tx2"/>
                </a:solidFill>
                <a:ea typeface="+mn-lt"/>
                <a:cs typeface="+mn-lt"/>
              </a:rPr>
              <a:t>This paper aims to support people with hearing and speech impairments by developing a system that can recognize </a:t>
            </a:r>
            <a:r>
              <a:rPr lang="en-US" sz="2000" b="1" dirty="0">
                <a:solidFill>
                  <a:schemeClr val="tx2"/>
                </a:solidFill>
                <a:ea typeface="+mn-lt"/>
                <a:cs typeface="+mn-lt"/>
              </a:rPr>
              <a:t>American Sign Language (ASL)</a:t>
            </a:r>
            <a:r>
              <a:rPr lang="en-US" sz="2000" dirty="0">
                <a:solidFill>
                  <a:schemeClr val="tx2"/>
                </a:solidFill>
                <a:ea typeface="+mn-lt"/>
                <a:cs typeface="+mn-lt"/>
              </a:rPr>
              <a:t> gestures. </a:t>
            </a:r>
          </a:p>
          <a:p>
            <a:r>
              <a:rPr lang="en-US" sz="2000" dirty="0">
                <a:solidFill>
                  <a:schemeClr val="tx2"/>
                </a:solidFill>
                <a:ea typeface="+mn-lt"/>
                <a:cs typeface="+mn-lt"/>
              </a:rPr>
              <a:t>The authors created a dataset using both </a:t>
            </a:r>
            <a:r>
              <a:rPr lang="en-US" sz="2000" b="1" dirty="0">
                <a:solidFill>
                  <a:schemeClr val="tx2"/>
                </a:solidFill>
                <a:ea typeface="+mn-lt"/>
                <a:cs typeface="+mn-lt"/>
              </a:rPr>
              <a:t>2D and 3D images of gestures</a:t>
            </a:r>
            <a:r>
              <a:rPr lang="en-US" sz="2000" dirty="0">
                <a:solidFill>
                  <a:schemeClr val="tx2"/>
                </a:solidFill>
                <a:ea typeface="+mn-lt"/>
                <a:cs typeface="+mn-lt"/>
              </a:rPr>
              <a:t> and applied the </a:t>
            </a:r>
            <a:r>
              <a:rPr lang="en-US" sz="2000" b="1" dirty="0" err="1">
                <a:solidFill>
                  <a:schemeClr val="tx2"/>
                </a:solidFill>
                <a:ea typeface="+mn-lt"/>
                <a:cs typeface="+mn-lt"/>
              </a:rPr>
              <a:t>MediaPipe</a:t>
            </a:r>
            <a:r>
              <a:rPr lang="en-US" sz="2000" b="1" dirty="0">
                <a:solidFill>
                  <a:schemeClr val="tx2"/>
                </a:solidFill>
                <a:ea typeface="+mn-lt"/>
                <a:cs typeface="+mn-lt"/>
              </a:rPr>
              <a:t> framework</a:t>
            </a:r>
            <a:r>
              <a:rPr lang="en-US" sz="2000" dirty="0">
                <a:solidFill>
                  <a:schemeClr val="tx2"/>
                </a:solidFill>
                <a:ea typeface="+mn-lt"/>
                <a:cs typeface="+mn-lt"/>
              </a:rPr>
              <a:t> to detect hand landmarks.</a:t>
            </a:r>
          </a:p>
          <a:p>
            <a:r>
              <a:rPr lang="en-US" sz="2000" dirty="0">
                <a:solidFill>
                  <a:schemeClr val="tx2"/>
                </a:solidFill>
                <a:ea typeface="+mn-lt"/>
                <a:cs typeface="+mn-lt"/>
              </a:rPr>
              <a:t> Machine learning techniques were then used for gesture recognition. The results show that this method works effectively for recognizing alphabets and gestures in ASL.</a:t>
            </a:r>
          </a:p>
          <a:p>
            <a:r>
              <a:rPr lang="en-US" sz="2000" dirty="0">
                <a:solidFill>
                  <a:schemeClr val="tx2"/>
                </a:solidFill>
                <a:ea typeface="+mn-lt"/>
                <a:cs typeface="+mn-lt"/>
              </a:rPr>
              <a:t> The study also suggests that the same approach can be adapted for recognizing </a:t>
            </a:r>
            <a:r>
              <a:rPr lang="en-US" sz="2000" b="1" dirty="0">
                <a:solidFill>
                  <a:schemeClr val="tx2"/>
                </a:solidFill>
                <a:ea typeface="+mn-lt"/>
                <a:cs typeface="+mn-lt"/>
              </a:rPr>
              <a:t>local Indian sign languages</a:t>
            </a:r>
            <a:r>
              <a:rPr lang="en-US" sz="2000" dirty="0">
                <a:solidFill>
                  <a:schemeClr val="tx2"/>
                </a:solidFill>
                <a:ea typeface="+mn-lt"/>
                <a:cs typeface="+mn-lt"/>
              </a:rPr>
              <a:t>, opening possibilities for broader applications. </a:t>
            </a:r>
          </a:p>
          <a:p>
            <a:pPr marL="0" indent="0">
              <a:buNone/>
            </a:pPr>
            <a:br>
              <a:rPr lang="en-US" dirty="0">
                <a:ea typeface="+mn-lt"/>
                <a:cs typeface="+mn-lt"/>
              </a:rPr>
            </a:br>
            <a:br>
              <a:rPr lang="en-US" dirty="0">
                <a:cs typeface="Sabon Next LT"/>
              </a:rPr>
            </a:br>
            <a:r>
              <a:rPr lang="en-US" dirty="0">
                <a:solidFill>
                  <a:schemeClr val="accent6">
                    <a:lumMod val="75000"/>
                  </a:schemeClr>
                </a:solidFill>
                <a:ea typeface="+mn-lt"/>
                <a:cs typeface="+mn-lt"/>
                <a:hlinkClick r:id="rId3">
                  <a:extLst>
                    <a:ext uri="{A12FA001-AC4F-418D-AE19-62706E023703}">
                      <ahyp:hlinkClr xmlns:ahyp="http://schemas.microsoft.com/office/drawing/2018/hyperlinkcolor" val="tx"/>
                    </a:ext>
                  </a:extLst>
                </a:hlinkClick>
              </a:rPr>
              <a:t>Sign Language Detection and Recognition Using Media Pipe and Deep Learning Algorithm | International Journal of Scientific Research in Science and Technology</a:t>
            </a:r>
            <a:br>
              <a:rPr lang="en-US" dirty="0">
                <a:cs typeface="Sabon Next LT"/>
              </a:rPr>
            </a:br>
            <a:endParaRPr lang="en-US" dirty="0">
              <a:cs typeface="Sabon Next LT"/>
            </a:endParaRPr>
          </a:p>
        </p:txBody>
      </p:sp>
    </p:spTree>
    <p:extLst>
      <p:ext uri="{BB962C8B-B14F-4D97-AF65-F5344CB8AC3E}">
        <p14:creationId xmlns:p14="http://schemas.microsoft.com/office/powerpoint/2010/main" val="685681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2AA24CD-1119-04D9-8A44-40C0117ECC8C}"/>
              </a:ext>
            </a:extLst>
          </p:cNvPr>
          <p:cNvSpPr txBox="1"/>
          <p:nvPr/>
        </p:nvSpPr>
        <p:spPr>
          <a:xfrm>
            <a:off x="1145457" y="333052"/>
            <a:ext cx="8824453" cy="1107996"/>
          </a:xfrm>
          <a:prstGeom prst="rect">
            <a:avLst/>
          </a:prstGeom>
          <a:noFill/>
        </p:spPr>
        <p:txBody>
          <a:bodyPr wrap="square">
            <a:spAutoFit/>
          </a:bodyPr>
          <a:lstStyle/>
          <a:p>
            <a:pPr algn="l">
              <a:buNone/>
            </a:pPr>
            <a:r>
              <a:rPr lang="en-US" sz="2400" b="1" i="0" dirty="0">
                <a:solidFill>
                  <a:schemeClr val="accent6"/>
                </a:solidFill>
                <a:effectLst/>
                <a:latin typeface="+mj-lt"/>
              </a:rPr>
              <a:t>SIGN LANGUAGE IDENTIFICATION AND RECOGNITION: A COMPARATIVE STUDY(2022)</a:t>
            </a:r>
          </a:p>
          <a:p>
            <a:r>
              <a:rPr lang="en-IN" b="1" dirty="0">
                <a:solidFill>
                  <a:schemeClr val="accent6"/>
                </a:solidFill>
              </a:rPr>
              <a:t>By Neethu, Raheem,  Abdulwahhab, </a:t>
            </a:r>
            <a:r>
              <a:rPr lang="en-IN" b="1" dirty="0" err="1">
                <a:solidFill>
                  <a:schemeClr val="accent6"/>
                </a:solidFill>
              </a:rPr>
              <a:t>Kopuklu</a:t>
            </a:r>
            <a:r>
              <a:rPr lang="en-IN" b="1" dirty="0">
                <a:solidFill>
                  <a:schemeClr val="accent6"/>
                </a:solidFill>
              </a:rPr>
              <a:t> et al</a:t>
            </a:r>
            <a:endParaRPr lang="en-US" b="1" i="0" dirty="0">
              <a:solidFill>
                <a:schemeClr val="accent6"/>
              </a:solidFill>
              <a:effectLst/>
              <a:latin typeface="+mj-lt"/>
            </a:endParaRPr>
          </a:p>
        </p:txBody>
      </p:sp>
      <p:sp>
        <p:nvSpPr>
          <p:cNvPr id="10" name="TextBox 9">
            <a:extLst>
              <a:ext uri="{FF2B5EF4-FFF2-40B4-BE49-F238E27FC236}">
                <a16:creationId xmlns:a16="http://schemas.microsoft.com/office/drawing/2014/main" id="{0F69C681-5F13-C4C7-E945-D085D6554C02}"/>
              </a:ext>
            </a:extLst>
          </p:cNvPr>
          <p:cNvSpPr txBox="1"/>
          <p:nvPr/>
        </p:nvSpPr>
        <p:spPr>
          <a:xfrm>
            <a:off x="727587" y="2091838"/>
            <a:ext cx="9999407" cy="3416320"/>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tx2"/>
                </a:solidFill>
              </a:rPr>
              <a:t>This article reviews the field of sign language (SL) processing, focusing on two main tasks: Sign Language Recognition (SLR), which translates gestures into tokens, and Sign Language Identification (SLID), which identifies the signer’s language. </a:t>
            </a:r>
          </a:p>
          <a:p>
            <a:pPr marL="285750" indent="-285750">
              <a:buFont typeface="Arial" panose="020B0604020202020204" pitchFamily="34" charset="0"/>
              <a:buChar char="•"/>
            </a:pPr>
            <a:r>
              <a:rPr lang="en-US" dirty="0">
                <a:solidFill>
                  <a:schemeClr val="tx2"/>
                </a:solidFill>
              </a:rPr>
              <a:t>It highlights the variety of datasets used, including static and dynamic datasets covering numbers, alphabets, words, and sentences, and discusses the preprocessing steps such as skin detection, image segmentation, hand tracking, feature extraction, and gesture classification. </a:t>
            </a:r>
          </a:p>
          <a:p>
            <a:pPr marL="285750" indent="-285750">
              <a:buFont typeface="Arial" panose="020B0604020202020204" pitchFamily="34" charset="0"/>
              <a:buChar char="•"/>
            </a:pPr>
            <a:r>
              <a:rPr lang="en-US" dirty="0">
                <a:solidFill>
                  <a:schemeClr val="tx2"/>
                </a:solidFill>
              </a:rPr>
              <a:t>The survey compares vision-based approaches with glove-based systems, noting that while deep learning algorithms like CNNs outperform traditional ML, glove-based systems can still achieve higher accuracy due to precise feature signals. </a:t>
            </a:r>
          </a:p>
          <a:p>
            <a:pPr marL="285750" indent="-285750">
              <a:buFont typeface="Arial" panose="020B0604020202020204" pitchFamily="34" charset="0"/>
              <a:buChar char="•"/>
            </a:pPr>
            <a:r>
              <a:rPr lang="en-US" dirty="0">
                <a:solidFill>
                  <a:schemeClr val="tx2"/>
                </a:solidFill>
              </a:rPr>
              <a:t>Overall, the study emphasizes the need to remove restrictive devices like gloves and sensors for better user comfort and interaction, and notes that SLID remains an underexplored area, representing a challenge for future comprehensive SLR systems.</a:t>
            </a:r>
            <a:endParaRPr lang="en-IN" dirty="0">
              <a:solidFill>
                <a:schemeClr val="tx2"/>
              </a:solidFill>
            </a:endParaRPr>
          </a:p>
        </p:txBody>
      </p:sp>
      <p:sp>
        <p:nvSpPr>
          <p:cNvPr id="12" name="TextBox 11">
            <a:extLst>
              <a:ext uri="{FF2B5EF4-FFF2-40B4-BE49-F238E27FC236}">
                <a16:creationId xmlns:a16="http://schemas.microsoft.com/office/drawing/2014/main" id="{5C474661-126D-3AEB-3F83-6DC2502F3EBD}"/>
              </a:ext>
            </a:extLst>
          </p:cNvPr>
          <p:cNvSpPr txBox="1"/>
          <p:nvPr/>
        </p:nvSpPr>
        <p:spPr>
          <a:xfrm>
            <a:off x="1828801" y="5593707"/>
            <a:ext cx="8495070" cy="369332"/>
          </a:xfrm>
          <a:prstGeom prst="rect">
            <a:avLst/>
          </a:prstGeom>
          <a:noFill/>
        </p:spPr>
        <p:txBody>
          <a:bodyPr wrap="square">
            <a:spAutoFit/>
          </a:bodyPr>
          <a:lstStyle/>
          <a:p>
            <a:r>
              <a:rPr lang="en-IN" dirty="0">
                <a:hlinkClick r:id="rId2"/>
              </a:rPr>
              <a:t>https://www.degruyterbrill.com/document/doi/10.1515/comp-2022-0240/html</a:t>
            </a:r>
            <a:endParaRPr lang="en-IN" dirty="0"/>
          </a:p>
        </p:txBody>
      </p:sp>
    </p:spTree>
    <p:extLst>
      <p:ext uri="{BB962C8B-B14F-4D97-AF65-F5344CB8AC3E}">
        <p14:creationId xmlns:p14="http://schemas.microsoft.com/office/powerpoint/2010/main" val="2442114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55F2D4-C20E-BEBC-1CCF-4449B0456A7E}"/>
              </a:ext>
            </a:extLst>
          </p:cNvPr>
          <p:cNvSpPr>
            <a:spLocks noGrp="1"/>
          </p:cNvSpPr>
          <p:nvPr>
            <p:ph type="title"/>
          </p:nvPr>
        </p:nvSpPr>
        <p:spPr>
          <a:xfrm>
            <a:off x="914400" y="411163"/>
            <a:ext cx="10874477" cy="1663443"/>
          </a:xfrm>
        </p:spPr>
        <p:txBody>
          <a:bodyPr/>
          <a:lstStyle/>
          <a:p>
            <a:r>
              <a:rPr lang="en-US" sz="2800" dirty="0"/>
              <a:t>Sign language detection using convolutional neural network(2024)</a:t>
            </a:r>
            <a:br>
              <a:rPr lang="en-US" dirty="0"/>
            </a:br>
            <a:r>
              <a:rPr lang="en-US" sz="1400" dirty="0"/>
              <a:t>By </a:t>
            </a:r>
            <a:r>
              <a:rPr lang="en-IN" sz="1400" b="0" dirty="0"/>
              <a:t>Rohini V, Adithya V, Rajesh R, Amrutha K</a:t>
            </a:r>
            <a:endParaRPr lang="en-US" sz="1400" dirty="0"/>
          </a:p>
        </p:txBody>
      </p:sp>
      <p:sp>
        <p:nvSpPr>
          <p:cNvPr id="13" name="Content Placeholder 5">
            <a:extLst>
              <a:ext uri="{FF2B5EF4-FFF2-40B4-BE49-F238E27FC236}">
                <a16:creationId xmlns:a16="http://schemas.microsoft.com/office/drawing/2014/main" id="{58AC0C8B-8A7A-9FAE-2D0F-4D1C3A8C3FA5}"/>
              </a:ext>
            </a:extLst>
          </p:cNvPr>
          <p:cNvSpPr>
            <a:spLocks noGrp="1"/>
          </p:cNvSpPr>
          <p:nvPr>
            <p:ph sz="half" idx="1"/>
          </p:nvPr>
        </p:nvSpPr>
        <p:spPr>
          <a:xfrm>
            <a:off x="914400" y="2631709"/>
            <a:ext cx="10038735" cy="3815129"/>
          </a:xfrm>
        </p:spPr>
        <p:txBody>
          <a:bodyPr>
            <a:normAutofit fontScale="92500" lnSpcReduction="10000"/>
          </a:bodyPr>
          <a:lstStyle/>
          <a:p>
            <a:pPr marL="285750" indent="-285750">
              <a:buFont typeface="Arial" panose="020B0604020202020204" pitchFamily="34" charset="0"/>
              <a:buChar char="•"/>
            </a:pPr>
            <a:r>
              <a:rPr lang="en-US" dirty="0">
                <a:solidFill>
                  <a:schemeClr val="tx2"/>
                </a:solidFill>
              </a:rPr>
              <a:t>This research addresses sign language recognition for the deaf and hard-of-hearing community by comparing two custom-made convolutional neural network (CNN) models for recognizing American Sign Language (ASL) letters from A to Z. </a:t>
            </a:r>
          </a:p>
          <a:p>
            <a:pPr marL="285750" indent="-285750">
              <a:buFont typeface="Arial" panose="020B0604020202020204" pitchFamily="34" charset="0"/>
              <a:buChar char="•"/>
            </a:pPr>
            <a:r>
              <a:rPr lang="en-US" dirty="0">
                <a:solidFill>
                  <a:schemeClr val="tx2"/>
                </a:solidFill>
              </a:rPr>
              <a:t>The study aimed to identify which model performs better while keeping the system practical and effective. </a:t>
            </a:r>
          </a:p>
          <a:p>
            <a:pPr marL="285750" indent="-285750">
              <a:buFont typeface="Arial" panose="020B0604020202020204" pitchFamily="34" charset="0"/>
              <a:buChar char="•"/>
            </a:pPr>
            <a:r>
              <a:rPr lang="en-US" dirty="0">
                <a:solidFill>
                  <a:schemeClr val="tx2"/>
                </a:solidFill>
              </a:rPr>
              <a:t>Both models used CNNs with </a:t>
            </a:r>
            <a:r>
              <a:rPr lang="en-US" dirty="0" err="1">
                <a:solidFill>
                  <a:schemeClr val="tx2"/>
                </a:solidFill>
              </a:rPr>
              <a:t>Softmax</a:t>
            </a:r>
            <a:r>
              <a:rPr lang="en-US" dirty="0">
                <a:solidFill>
                  <a:schemeClr val="tx2"/>
                </a:solidFill>
              </a:rPr>
              <a:t> activation for classification, a common approach in computer vision. </a:t>
            </a:r>
          </a:p>
          <a:p>
            <a:pPr marL="285750" indent="-285750">
              <a:buFont typeface="Arial" panose="020B0604020202020204" pitchFamily="34" charset="0"/>
              <a:buChar char="•"/>
            </a:pPr>
            <a:r>
              <a:rPr lang="en-US" dirty="0">
                <a:solidFill>
                  <a:schemeClr val="tx2"/>
                </a:solidFill>
              </a:rPr>
              <a:t>The results showed that Model_2 outperformed Model_1, achieving an accuracy of 98.44% and an F1 score of 98.41%, although performance varied for different letters. </a:t>
            </a:r>
          </a:p>
          <a:p>
            <a:pPr marL="285750" indent="-285750">
              <a:buFont typeface="Arial" panose="020B0604020202020204" pitchFamily="34" charset="0"/>
              <a:buChar char="•"/>
            </a:pPr>
            <a:r>
              <a:rPr lang="en-US" dirty="0">
                <a:solidFill>
                  <a:schemeClr val="tx2"/>
                </a:solidFill>
              </a:rPr>
              <a:t>This work demonstrates the effectiveness of custom CNN models in ASL recognition and highlights the importance of designing models tailored to specific sign language tasks.</a:t>
            </a:r>
          </a:p>
          <a:p>
            <a:pPr marL="285750" indent="-285750">
              <a:buFont typeface="Arial" panose="020B0604020202020204" pitchFamily="34" charset="0"/>
              <a:buChar char="•"/>
            </a:pPr>
            <a:endParaRPr lang="en-US" dirty="0">
              <a:solidFill>
                <a:schemeClr val="tx2"/>
              </a:solidFill>
            </a:endParaRPr>
          </a:p>
          <a:p>
            <a:pPr algn="ctr"/>
            <a:r>
              <a:rPr lang="en-US" dirty="0">
                <a:hlinkClick r:id="rId3"/>
              </a:rPr>
              <a:t>https://link.springer.com/article/10.1007/s12652-024-04761-7</a:t>
            </a:r>
            <a:endParaRPr lang="en-US" dirty="0"/>
          </a:p>
        </p:txBody>
      </p:sp>
    </p:spTree>
    <p:extLst>
      <p:ext uri="{BB962C8B-B14F-4D97-AF65-F5344CB8AC3E}">
        <p14:creationId xmlns:p14="http://schemas.microsoft.com/office/powerpoint/2010/main" val="19416196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D62608-F5E4-7EC0-5EF0-4F988DDDEC5B}"/>
              </a:ext>
            </a:extLst>
          </p:cNvPr>
          <p:cNvSpPr>
            <a:spLocks noGrp="1"/>
          </p:cNvSpPr>
          <p:nvPr>
            <p:ph type="title"/>
          </p:nvPr>
        </p:nvSpPr>
        <p:spPr>
          <a:xfrm>
            <a:off x="530657" y="1010382"/>
            <a:ext cx="10895370" cy="1070084"/>
          </a:xfrm>
        </p:spPr>
        <p:txBody>
          <a:bodyPr/>
          <a:lstStyle/>
          <a:p>
            <a:r>
              <a:rPr lang="en-US" sz="2800" b="0" dirty="0">
                <a:ea typeface="+mj-lt"/>
                <a:cs typeface="+mj-lt"/>
              </a:rPr>
              <a:t>Sign Language: A Systematic Review on Classification and Recognition(2024)</a:t>
            </a:r>
            <a:br>
              <a:rPr lang="en-US" sz="2800" b="0" dirty="0">
                <a:ea typeface="+mj-lt"/>
                <a:cs typeface="+mj-lt"/>
              </a:rPr>
            </a:br>
            <a:r>
              <a:rPr lang="en-US" sz="1400" dirty="0">
                <a:ea typeface="+mj-lt"/>
                <a:cs typeface="+mj-lt"/>
              </a:rPr>
              <a:t>By S. Renjith &amp; Rashmi </a:t>
            </a:r>
            <a:r>
              <a:rPr lang="en-US" sz="1400" dirty="0" err="1">
                <a:ea typeface="+mj-lt"/>
                <a:cs typeface="+mj-lt"/>
              </a:rPr>
              <a:t>Manazhy</a:t>
            </a:r>
            <a:endParaRPr lang="en-US" sz="1400" dirty="0"/>
          </a:p>
        </p:txBody>
      </p:sp>
      <p:sp>
        <p:nvSpPr>
          <p:cNvPr id="12" name="Content Placeholder 3">
            <a:extLst>
              <a:ext uri="{FF2B5EF4-FFF2-40B4-BE49-F238E27FC236}">
                <a16:creationId xmlns:a16="http://schemas.microsoft.com/office/drawing/2014/main" id="{288BD9B8-D6A6-D55A-830D-4D3CC2DC3933}"/>
              </a:ext>
            </a:extLst>
          </p:cNvPr>
          <p:cNvSpPr>
            <a:spLocks noGrp="1"/>
          </p:cNvSpPr>
          <p:nvPr>
            <p:ph sz="half" idx="2"/>
          </p:nvPr>
        </p:nvSpPr>
        <p:spPr>
          <a:xfrm>
            <a:off x="1960871" y="2596104"/>
            <a:ext cx="9850162" cy="3668517"/>
          </a:xfrm>
        </p:spPr>
        <p:txBody>
          <a:bodyPr vert="horz" lIns="91440" tIns="0" rIns="91440" bIns="0" rtlCol="0" anchor="t">
            <a:normAutofit fontScale="92500" lnSpcReduction="20000"/>
          </a:bodyPr>
          <a:lstStyle/>
          <a:p>
            <a:r>
              <a:rPr lang="en-US" dirty="0">
                <a:solidFill>
                  <a:schemeClr val="tx2"/>
                </a:solidFill>
                <a:ea typeface="+mn-lt"/>
                <a:cs typeface="+mn-lt"/>
              </a:rPr>
              <a:t>This paper provides a systematic review of different computational approaches used for sign language recognition (SLR) worldwide. </a:t>
            </a:r>
          </a:p>
          <a:p>
            <a:r>
              <a:rPr lang="en-US" dirty="0">
                <a:solidFill>
                  <a:schemeClr val="tx2"/>
                </a:solidFill>
                <a:ea typeface="+mn-lt"/>
                <a:cs typeface="+mn-lt"/>
              </a:rPr>
              <a:t>In India alone, about 2.7 million people have hearing or speech impairments, with nearly 98% relying on sign language for communication.</a:t>
            </a:r>
          </a:p>
          <a:p>
            <a:r>
              <a:rPr lang="en-US" dirty="0">
                <a:solidFill>
                  <a:schemeClr val="tx2"/>
                </a:solidFill>
                <a:ea typeface="+mn-lt"/>
                <a:cs typeface="+mn-lt"/>
              </a:rPr>
              <a:t> However, the shortage of human interpreters creates barriers. To address this, the study reviewed 587 research papers, of which 95 focused on AI-based sign language recognition.</a:t>
            </a:r>
          </a:p>
          <a:p>
            <a:r>
              <a:rPr lang="en-US" dirty="0">
                <a:solidFill>
                  <a:schemeClr val="tx2"/>
                </a:solidFill>
                <a:ea typeface="+mn-lt"/>
                <a:cs typeface="+mn-lt"/>
              </a:rPr>
              <a:t> The review analyzed methods involving machine learning and deep learning, categorizing them by language, sign type, processing techniques, classification methods, and evaluation measures. </a:t>
            </a:r>
          </a:p>
          <a:p>
            <a:r>
              <a:rPr lang="en-US" dirty="0">
                <a:solidFill>
                  <a:schemeClr val="tx2"/>
                </a:solidFill>
                <a:ea typeface="+mn-lt"/>
                <a:cs typeface="+mn-lt"/>
              </a:rPr>
              <a:t>The findings show that extensive research has been done on Chinese, Arabic, and American Sign Languages. Among the techniques, Support Vector Machines (SVMs) performed best in machine learning, while Convolutional Neural Networks (CNNs) showed the highest accuracy in deep learning-based recognition</a:t>
            </a:r>
            <a:r>
              <a:rPr lang="en-US" dirty="0">
                <a:ea typeface="+mn-lt"/>
                <a:cs typeface="+mn-lt"/>
              </a:rPr>
              <a:t>.</a:t>
            </a:r>
            <a:endParaRPr lang="en-US" dirty="0">
              <a:cs typeface="Sabon Next LT"/>
            </a:endParaRPr>
          </a:p>
          <a:p>
            <a:endParaRPr lang="en-US" dirty="0">
              <a:solidFill>
                <a:schemeClr val="accent6">
                  <a:lumMod val="75000"/>
                </a:schemeClr>
              </a:solidFill>
              <a:ea typeface="+mn-lt"/>
              <a:cs typeface="+mn-lt"/>
            </a:endParaRPr>
          </a:p>
          <a:p>
            <a:pPr marL="0" indent="0">
              <a:buNone/>
            </a:pPr>
            <a:r>
              <a:rPr lang="en-US" sz="1400" dirty="0">
                <a:solidFill>
                  <a:schemeClr val="accent6">
                    <a:lumMod val="75000"/>
                  </a:schemeClr>
                </a:solidFill>
                <a:ea typeface="+mn-lt"/>
                <a:cs typeface="+mn-lt"/>
                <a:hlinkClick r:id="rId3">
                  <a:extLst>
                    <a:ext uri="{A12FA001-AC4F-418D-AE19-62706E023703}">
                      <ahyp:hlinkClr xmlns:ahyp="http://schemas.microsoft.com/office/drawing/2018/hyperlinkcolor" val="tx"/>
                    </a:ext>
                  </a:extLst>
                </a:hlinkClick>
              </a:rPr>
              <a:t>Sign language : a systematic review on classification and recognition | Multimedia Tools and Applications</a:t>
            </a:r>
            <a:endParaRPr lang="en-US" sz="1400" dirty="0">
              <a:solidFill>
                <a:schemeClr val="accent6">
                  <a:lumMod val="75000"/>
                </a:schemeClr>
              </a:solidFill>
              <a:cs typeface="Sabon Next LT"/>
            </a:endParaRPr>
          </a:p>
          <a:p>
            <a:endParaRPr lang="en-US" dirty="0">
              <a:cs typeface="Sabon Next LT"/>
            </a:endParaRPr>
          </a:p>
        </p:txBody>
      </p:sp>
    </p:spTree>
    <p:extLst>
      <p:ext uri="{BB962C8B-B14F-4D97-AF65-F5344CB8AC3E}">
        <p14:creationId xmlns:p14="http://schemas.microsoft.com/office/powerpoint/2010/main" val="24980216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DD2BA-6FBA-364D-AFB7-BB3A1FB31DE7}"/>
              </a:ext>
            </a:extLst>
          </p:cNvPr>
          <p:cNvSpPr>
            <a:spLocks noGrp="1"/>
          </p:cNvSpPr>
          <p:nvPr>
            <p:ph type="title"/>
          </p:nvPr>
        </p:nvSpPr>
        <p:spPr>
          <a:xfrm>
            <a:off x="216310" y="157054"/>
            <a:ext cx="9881419" cy="1622585"/>
          </a:xfrm>
        </p:spPr>
        <p:txBody>
          <a:bodyPr/>
          <a:lstStyle/>
          <a:p>
            <a:r>
              <a:rPr lang="en-US" sz="2800" dirty="0"/>
              <a:t>American Sign Language Recognition System for Numerical and Alphabets(2023)</a:t>
            </a:r>
            <a:br>
              <a:rPr lang="en-US" sz="2800" dirty="0"/>
            </a:br>
            <a:endParaRPr lang="en-IN" sz="2800" dirty="0"/>
          </a:p>
        </p:txBody>
      </p:sp>
      <p:sp>
        <p:nvSpPr>
          <p:cNvPr id="5" name="TextBox 4">
            <a:extLst>
              <a:ext uri="{FF2B5EF4-FFF2-40B4-BE49-F238E27FC236}">
                <a16:creationId xmlns:a16="http://schemas.microsoft.com/office/drawing/2014/main" id="{82C42FC8-19F8-518F-D332-198BB8CA3463}"/>
              </a:ext>
            </a:extLst>
          </p:cNvPr>
          <p:cNvSpPr txBox="1"/>
          <p:nvPr/>
        </p:nvSpPr>
        <p:spPr>
          <a:xfrm>
            <a:off x="216310" y="1324321"/>
            <a:ext cx="8839200" cy="523220"/>
          </a:xfrm>
          <a:prstGeom prst="rect">
            <a:avLst/>
          </a:prstGeom>
          <a:noFill/>
        </p:spPr>
        <p:txBody>
          <a:bodyPr wrap="square">
            <a:spAutoFit/>
          </a:bodyPr>
          <a:lstStyle/>
          <a:p>
            <a:r>
              <a:rPr lang="en-IN" sz="1400" b="1" i="0" strike="noStrike" dirty="0">
                <a:solidFill>
                  <a:srgbClr val="1F2C8F"/>
                </a:solidFill>
                <a:effectLst/>
                <a:latin typeface="+mj-lt"/>
                <a:hlinkClick r:id="rId2">
                  <a:extLst>
                    <a:ext uri="{A12FA001-AC4F-418D-AE19-62706E023703}">
                      <ahyp:hlinkClr xmlns:ahyp="http://schemas.microsoft.com/office/drawing/2018/hyperlinkcolor" val="tx"/>
                    </a:ext>
                  </a:extLst>
                </a:hlinkClick>
              </a:rPr>
              <a:t>By D </a:t>
            </a:r>
            <a:r>
              <a:rPr lang="en-IN" sz="1400" b="1" i="0" strike="noStrike" dirty="0">
                <a:solidFill>
                  <a:schemeClr val="accent6"/>
                </a:solidFill>
                <a:effectLst/>
                <a:latin typeface="+mj-lt"/>
                <a:hlinkClick r:id="rId2">
                  <a:extLst>
                    <a:ext uri="{A12FA001-AC4F-418D-AE19-62706E023703}">
                      <ahyp:hlinkClr xmlns:ahyp="http://schemas.microsoft.com/office/drawing/2018/hyperlinkcolor" val="tx"/>
                    </a:ext>
                  </a:extLst>
                </a:hlinkClick>
              </a:rPr>
              <a:t>Sathyanarayanan</a:t>
            </a:r>
            <a:r>
              <a:rPr lang="en-IN" sz="1400" b="1" strike="noStrike" dirty="0">
                <a:solidFill>
                  <a:schemeClr val="accent6"/>
                </a:solidFill>
                <a:latin typeface="+mj-lt"/>
              </a:rPr>
              <a:t>,</a:t>
            </a:r>
            <a:r>
              <a:rPr lang="en-IN" sz="1400" b="1" i="0" dirty="0">
                <a:solidFill>
                  <a:schemeClr val="accent6"/>
                </a:solidFill>
                <a:effectLst/>
                <a:latin typeface="+mj-lt"/>
              </a:rPr>
              <a:t> </a:t>
            </a:r>
            <a:r>
              <a:rPr lang="en-IN" sz="1400" b="1" i="0" strike="noStrike" dirty="0">
                <a:solidFill>
                  <a:schemeClr val="accent6"/>
                </a:solidFill>
                <a:effectLst/>
                <a:latin typeface="+mj-lt"/>
                <a:hlinkClick r:id="rId3">
                  <a:extLst>
                    <a:ext uri="{A12FA001-AC4F-418D-AE19-62706E023703}">
                      <ahyp:hlinkClr xmlns:ahyp="http://schemas.microsoft.com/office/drawing/2018/hyperlinkcolor" val="tx"/>
                    </a:ext>
                  </a:extLst>
                </a:hlinkClick>
              </a:rPr>
              <a:t>T. Srinivasa Reddy</a:t>
            </a:r>
            <a:r>
              <a:rPr lang="en-IN" sz="1400" b="1" strike="noStrike" dirty="0">
                <a:solidFill>
                  <a:schemeClr val="accent6"/>
                </a:solidFill>
                <a:latin typeface="+mj-lt"/>
              </a:rPr>
              <a:t>,</a:t>
            </a:r>
            <a:r>
              <a:rPr lang="en-IN" sz="1400" b="1" i="0" dirty="0">
                <a:solidFill>
                  <a:schemeClr val="accent6"/>
                </a:solidFill>
                <a:effectLst/>
                <a:latin typeface="+mj-lt"/>
              </a:rPr>
              <a:t> </a:t>
            </a:r>
            <a:r>
              <a:rPr lang="en-IN" sz="1400" b="1" i="0" strike="noStrike" dirty="0">
                <a:solidFill>
                  <a:schemeClr val="accent6"/>
                </a:solidFill>
                <a:effectLst/>
                <a:latin typeface="+mj-lt"/>
                <a:hlinkClick r:id="rId4">
                  <a:extLst>
                    <a:ext uri="{A12FA001-AC4F-418D-AE19-62706E023703}">
                      <ahyp:hlinkClr xmlns:ahyp="http://schemas.microsoft.com/office/drawing/2018/hyperlinkcolor" val="tx"/>
                    </a:ext>
                  </a:extLst>
                </a:hlinkClick>
              </a:rPr>
              <a:t>A. Sathish</a:t>
            </a:r>
            <a:r>
              <a:rPr lang="en-IN" sz="1400" b="1" strike="noStrike" dirty="0">
                <a:solidFill>
                  <a:schemeClr val="accent6"/>
                </a:solidFill>
                <a:latin typeface="+mj-lt"/>
              </a:rPr>
              <a:t>,</a:t>
            </a:r>
            <a:r>
              <a:rPr lang="en-IN" sz="1400" b="1" i="0" dirty="0">
                <a:solidFill>
                  <a:schemeClr val="accent6"/>
                </a:solidFill>
                <a:effectLst/>
                <a:latin typeface="+mj-lt"/>
              </a:rPr>
              <a:t> </a:t>
            </a:r>
            <a:r>
              <a:rPr lang="en-IN" sz="1400" b="1" i="0" strike="noStrike" dirty="0">
                <a:solidFill>
                  <a:schemeClr val="accent6"/>
                </a:solidFill>
                <a:effectLst/>
                <a:latin typeface="+mj-lt"/>
                <a:hlinkClick r:id="rId5">
                  <a:extLst>
                    <a:ext uri="{A12FA001-AC4F-418D-AE19-62706E023703}">
                      <ahyp:hlinkClr xmlns:ahyp="http://schemas.microsoft.com/office/drawing/2018/hyperlinkcolor" val="tx"/>
                    </a:ext>
                  </a:extLst>
                </a:hlinkClick>
              </a:rPr>
              <a:t>P. Geetha</a:t>
            </a:r>
            <a:r>
              <a:rPr lang="en-IN" sz="1400" b="1" strike="noStrike" dirty="0">
                <a:solidFill>
                  <a:schemeClr val="accent6"/>
                </a:solidFill>
                <a:latin typeface="+mj-lt"/>
              </a:rPr>
              <a:t>,</a:t>
            </a:r>
            <a:r>
              <a:rPr lang="en-IN" sz="1400" b="1" i="0" dirty="0">
                <a:solidFill>
                  <a:schemeClr val="accent6"/>
                </a:solidFill>
                <a:effectLst/>
                <a:latin typeface="+mj-lt"/>
              </a:rPr>
              <a:t> </a:t>
            </a:r>
            <a:r>
              <a:rPr lang="en-IN" sz="1400" b="1" i="0" strike="noStrike" dirty="0">
                <a:solidFill>
                  <a:schemeClr val="accent6"/>
                </a:solidFill>
                <a:effectLst/>
                <a:latin typeface="+mj-lt"/>
                <a:hlinkClick r:id="rId6">
                  <a:extLst>
                    <a:ext uri="{A12FA001-AC4F-418D-AE19-62706E023703}">
                      <ahyp:hlinkClr xmlns:ahyp="http://schemas.microsoft.com/office/drawing/2018/hyperlinkcolor" val="tx"/>
                    </a:ext>
                  </a:extLst>
                </a:hlinkClick>
              </a:rPr>
              <a:t>J.R. Arunkumar</a:t>
            </a:r>
            <a:r>
              <a:rPr lang="en-IN" sz="1400" b="1" strike="noStrike" dirty="0">
                <a:solidFill>
                  <a:schemeClr val="accent6"/>
                </a:solidFill>
                <a:latin typeface="+mj-lt"/>
              </a:rPr>
              <a:t>,</a:t>
            </a:r>
            <a:r>
              <a:rPr lang="en-IN" sz="1400" b="1" i="0" dirty="0">
                <a:solidFill>
                  <a:schemeClr val="accent6"/>
                </a:solidFill>
                <a:effectLst/>
                <a:latin typeface="+mj-lt"/>
              </a:rPr>
              <a:t> </a:t>
            </a:r>
            <a:r>
              <a:rPr lang="en-IN" sz="1400" b="1" i="0" strike="noStrike" dirty="0">
                <a:solidFill>
                  <a:schemeClr val="accent6"/>
                </a:solidFill>
                <a:effectLst/>
                <a:latin typeface="+mj-lt"/>
                <a:hlinkClick r:id="rId7">
                  <a:extLst>
                    <a:ext uri="{A12FA001-AC4F-418D-AE19-62706E023703}">
                      <ahyp:hlinkClr xmlns:ahyp="http://schemas.microsoft.com/office/drawing/2018/hyperlinkcolor" val="tx"/>
                    </a:ext>
                  </a:extLst>
                </a:hlinkClick>
              </a:rPr>
              <a:t>S. Prem Kumar Deepak</a:t>
            </a:r>
            <a:endParaRPr lang="en-IN" sz="1400" b="1" dirty="0">
              <a:solidFill>
                <a:schemeClr val="accent6"/>
              </a:solidFill>
              <a:latin typeface="+mj-lt"/>
            </a:endParaRPr>
          </a:p>
        </p:txBody>
      </p:sp>
      <p:sp>
        <p:nvSpPr>
          <p:cNvPr id="7" name="TextBox 6">
            <a:extLst>
              <a:ext uri="{FF2B5EF4-FFF2-40B4-BE49-F238E27FC236}">
                <a16:creationId xmlns:a16="http://schemas.microsoft.com/office/drawing/2014/main" id="{E9416E45-5076-55FD-E3BB-E05E93FE60CF}"/>
              </a:ext>
            </a:extLst>
          </p:cNvPr>
          <p:cNvSpPr txBox="1"/>
          <p:nvPr/>
        </p:nvSpPr>
        <p:spPr>
          <a:xfrm>
            <a:off x="1052052" y="2052113"/>
            <a:ext cx="9606115" cy="3477875"/>
          </a:xfrm>
          <a:prstGeom prst="rect">
            <a:avLst/>
          </a:prstGeom>
          <a:noFill/>
        </p:spPr>
        <p:txBody>
          <a:bodyPr wrap="square">
            <a:spAutoFit/>
          </a:bodyPr>
          <a:lstStyle/>
          <a:p>
            <a:pPr marL="285750" indent="-285750">
              <a:buFont typeface="Arial" panose="020B0604020202020204" pitchFamily="34" charset="0"/>
              <a:buChar char="•"/>
            </a:pPr>
            <a:r>
              <a:rPr lang="en-US" sz="2000" dirty="0">
                <a:solidFill>
                  <a:schemeClr val="tx2"/>
                </a:solidFill>
              </a:rPr>
              <a:t>This research presents an American Sign Language (ASL) recognition system aimed at helping individuals with hearing or speech difficulties communicate more effectively. </a:t>
            </a:r>
          </a:p>
          <a:p>
            <a:pPr marL="285750" indent="-285750">
              <a:buFont typeface="Arial" panose="020B0604020202020204" pitchFamily="34" charset="0"/>
              <a:buChar char="•"/>
            </a:pPr>
            <a:r>
              <a:rPr lang="en-US" sz="2000" dirty="0">
                <a:solidFill>
                  <a:schemeClr val="tx2"/>
                </a:solidFill>
              </a:rPr>
              <a:t>The study proposes an ASL handwriting translator using convolutional neural networks (CNNs) to recognize specific characters. </a:t>
            </a:r>
          </a:p>
          <a:p>
            <a:pPr marL="285750" indent="-285750">
              <a:buFont typeface="Arial" panose="020B0604020202020204" pitchFamily="34" charset="0"/>
              <a:buChar char="•"/>
            </a:pPr>
            <a:r>
              <a:rPr lang="en-US" sz="2000" dirty="0">
                <a:solidFill>
                  <a:schemeClr val="tx2"/>
                </a:solidFill>
              </a:rPr>
              <a:t>In addition to CNNs, the authors applied Support Vector Machines (SVM), Decision Trees, and Voting Classifiers to analyze the dataset and improve classification performance. </a:t>
            </a:r>
          </a:p>
          <a:p>
            <a:pPr marL="285750" indent="-285750">
              <a:buFont typeface="Arial" panose="020B0604020202020204" pitchFamily="34" charset="0"/>
              <a:buChar char="•"/>
            </a:pPr>
            <a:r>
              <a:rPr lang="en-US" sz="2000" dirty="0">
                <a:solidFill>
                  <a:schemeClr val="tx2"/>
                </a:solidFill>
              </a:rPr>
              <a:t>The system is designed to interpret ASL gestures, including fingerspelling, enabling a more practical and accessible communication tool for the deaf and hard-of-hearing community.</a:t>
            </a:r>
            <a:endParaRPr lang="en-IN" sz="2000" dirty="0">
              <a:solidFill>
                <a:schemeClr val="tx2"/>
              </a:solidFill>
            </a:endParaRPr>
          </a:p>
        </p:txBody>
      </p:sp>
      <p:sp>
        <p:nvSpPr>
          <p:cNvPr id="9" name="TextBox 8">
            <a:extLst>
              <a:ext uri="{FF2B5EF4-FFF2-40B4-BE49-F238E27FC236}">
                <a16:creationId xmlns:a16="http://schemas.microsoft.com/office/drawing/2014/main" id="{A554FA46-5E9A-6135-FB9A-9687E3A2FB4B}"/>
              </a:ext>
            </a:extLst>
          </p:cNvPr>
          <p:cNvSpPr txBox="1"/>
          <p:nvPr/>
        </p:nvSpPr>
        <p:spPr>
          <a:xfrm>
            <a:off x="3170903" y="5345322"/>
            <a:ext cx="6105832" cy="369332"/>
          </a:xfrm>
          <a:prstGeom prst="rect">
            <a:avLst/>
          </a:prstGeom>
          <a:noFill/>
        </p:spPr>
        <p:txBody>
          <a:bodyPr wrap="square">
            <a:spAutoFit/>
          </a:bodyPr>
          <a:lstStyle/>
          <a:p>
            <a:r>
              <a:rPr lang="en-IN" dirty="0">
                <a:hlinkClick r:id="rId8"/>
              </a:rPr>
              <a:t>https://ieeexplore.ieee.org/abstract/document/10369455</a:t>
            </a:r>
            <a:endParaRPr lang="en-IN" dirty="0"/>
          </a:p>
        </p:txBody>
      </p:sp>
    </p:spTree>
    <p:extLst>
      <p:ext uri="{BB962C8B-B14F-4D97-AF65-F5344CB8AC3E}">
        <p14:creationId xmlns:p14="http://schemas.microsoft.com/office/powerpoint/2010/main" val="798215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0A324-0737-F0DA-1F7D-10CBE06D7C3F}"/>
              </a:ext>
            </a:extLst>
          </p:cNvPr>
          <p:cNvSpPr>
            <a:spLocks noGrp="1"/>
          </p:cNvSpPr>
          <p:nvPr>
            <p:ph type="title"/>
          </p:nvPr>
        </p:nvSpPr>
        <p:spPr>
          <a:xfrm>
            <a:off x="492370" y="-471947"/>
            <a:ext cx="11578426" cy="2870034"/>
          </a:xfrm>
        </p:spPr>
        <p:txBody>
          <a:bodyPr/>
          <a:lstStyle/>
          <a:p>
            <a:pPr algn="l"/>
            <a:r>
              <a:rPr lang="en-US" b="0" dirty="0">
                <a:ea typeface="+mj-lt"/>
                <a:cs typeface="+mj-lt"/>
              </a:rPr>
              <a:t>Hand Gesture Sign Language   Recognition through Machine Learning(2024)</a:t>
            </a:r>
            <a:br>
              <a:rPr lang="en-US" b="0" dirty="0">
                <a:ea typeface="+mj-lt"/>
                <a:cs typeface="+mj-lt"/>
              </a:rPr>
            </a:br>
            <a:r>
              <a:rPr lang="en-US" sz="1400" b="0" dirty="0">
                <a:ea typeface="+mj-lt"/>
                <a:cs typeface="+mj-lt"/>
              </a:rPr>
              <a:t>BY </a:t>
            </a:r>
            <a:r>
              <a:rPr lang="en-US" sz="1200" dirty="0">
                <a:ea typeface="+mj-lt"/>
                <a:cs typeface="+mj-lt"/>
              </a:rPr>
              <a:t>Dr. Mahesh Kumar Porwal, </a:t>
            </a:r>
            <a:r>
              <a:rPr lang="en-US" sz="1200" dirty="0"/>
              <a:t> </a:t>
            </a:r>
            <a:r>
              <a:rPr lang="en-US" sz="1200" dirty="0">
                <a:ea typeface="+mj-lt"/>
                <a:cs typeface="+mj-lt"/>
              </a:rPr>
              <a:t>Mr. Nishant Porwal, </a:t>
            </a:r>
            <a:endParaRPr lang="en-US" dirty="0"/>
          </a:p>
        </p:txBody>
      </p:sp>
      <p:sp>
        <p:nvSpPr>
          <p:cNvPr id="3" name="Slide Number Placeholder 2">
            <a:extLst>
              <a:ext uri="{FF2B5EF4-FFF2-40B4-BE49-F238E27FC236}">
                <a16:creationId xmlns:a16="http://schemas.microsoft.com/office/drawing/2014/main" id="{AC21286A-7B29-3B58-1636-0F45723890AB}"/>
              </a:ext>
            </a:extLst>
          </p:cNvPr>
          <p:cNvSpPr>
            <a:spLocks noGrp="1"/>
          </p:cNvSpPr>
          <p:nvPr>
            <p:ph type="sldNum" sz="quarter" idx="10"/>
          </p:nvPr>
        </p:nvSpPr>
        <p:spPr>
          <a:xfrm>
            <a:off x="10358437" y="457199"/>
            <a:ext cx="1067589" cy="471489"/>
          </a:xfrm>
        </p:spPr>
        <p:txBody>
          <a:bodyPr/>
          <a:lstStyle/>
          <a:p>
            <a:endParaRPr lang="en-US" dirty="0"/>
          </a:p>
        </p:txBody>
      </p:sp>
      <p:sp>
        <p:nvSpPr>
          <p:cNvPr id="6" name="Content Placeholder 5">
            <a:extLst>
              <a:ext uri="{FF2B5EF4-FFF2-40B4-BE49-F238E27FC236}">
                <a16:creationId xmlns:a16="http://schemas.microsoft.com/office/drawing/2014/main" id="{98283E72-C919-F710-617F-591B24FEBD2E}"/>
              </a:ext>
            </a:extLst>
          </p:cNvPr>
          <p:cNvSpPr>
            <a:spLocks noGrp="1"/>
          </p:cNvSpPr>
          <p:nvPr>
            <p:ph sz="quarter" idx="4"/>
          </p:nvPr>
        </p:nvSpPr>
        <p:spPr>
          <a:xfrm>
            <a:off x="914400" y="3055716"/>
            <a:ext cx="10511627" cy="3553428"/>
          </a:xfrm>
        </p:spPr>
        <p:txBody>
          <a:bodyPr vert="horz" lIns="91440" tIns="91440" rIns="91440" bIns="91440" rtlCol="0" anchor="t">
            <a:normAutofit/>
          </a:bodyPr>
          <a:lstStyle/>
          <a:p>
            <a:r>
              <a:rPr lang="en-IN" dirty="0">
                <a:solidFill>
                  <a:schemeClr val="tx2"/>
                </a:solidFill>
                <a:ea typeface="+mn-lt"/>
                <a:cs typeface="+mn-lt"/>
              </a:rPr>
              <a:t>This research focuses on using machine learning models to recognize hand gestures for sign language, helping bridge communication gaps for the deaf and mute community. </a:t>
            </a:r>
          </a:p>
          <a:p>
            <a:r>
              <a:rPr lang="en-IN" dirty="0">
                <a:solidFill>
                  <a:schemeClr val="tx2"/>
                </a:solidFill>
                <a:ea typeface="+mn-lt"/>
                <a:cs typeface="+mn-lt"/>
              </a:rPr>
              <a:t>The study compares Random Forest and Artificial Neural Network (ANN) classifiers on Indian and American Sign Language datasets. </a:t>
            </a:r>
          </a:p>
          <a:p>
            <a:r>
              <a:rPr lang="en-IN" dirty="0">
                <a:solidFill>
                  <a:schemeClr val="tx2"/>
                </a:solidFill>
                <a:ea typeface="+mn-lt"/>
                <a:cs typeface="+mn-lt"/>
              </a:rPr>
              <a:t>Results show that Random Forest achieved higher accuracy (80–95%) under normal lighting and varied backgrounds, making it a more reliable choice than ANN. </a:t>
            </a:r>
          </a:p>
          <a:p>
            <a:r>
              <a:rPr lang="en-IN" dirty="0">
                <a:solidFill>
                  <a:schemeClr val="tx2"/>
                </a:solidFill>
                <a:ea typeface="+mn-lt"/>
                <a:cs typeface="+mn-lt"/>
              </a:rPr>
              <a:t>This approach can support sign language learners and enhance real-time communication tools.</a:t>
            </a:r>
            <a:endParaRPr lang="en-IN" dirty="0">
              <a:solidFill>
                <a:schemeClr val="tx2"/>
              </a:solidFill>
              <a:cs typeface="Sabon Next LT"/>
            </a:endParaRPr>
          </a:p>
          <a:p>
            <a:pPr marL="0" indent="0" algn="ctr">
              <a:buNone/>
            </a:pPr>
            <a:endParaRPr lang="en-IN" dirty="0">
              <a:solidFill>
                <a:schemeClr val="accent6">
                  <a:lumMod val="75000"/>
                </a:schemeClr>
              </a:solidFill>
              <a:ea typeface="+mn-lt"/>
              <a:cs typeface="+mn-lt"/>
              <a:hlinkClick r:id="rId3">
                <a:extLst>
                  <a:ext uri="{A12FA001-AC4F-418D-AE19-62706E023703}">
                    <ahyp:hlinkClr xmlns:ahyp="http://schemas.microsoft.com/office/drawing/2018/hyperlinkcolor" val="tx"/>
                  </a:ext>
                </a:extLst>
              </a:hlinkClick>
            </a:endParaRPr>
          </a:p>
          <a:p>
            <a:pPr marL="0" indent="0" algn="ctr">
              <a:buNone/>
            </a:pPr>
            <a:r>
              <a:rPr lang="en-IN" dirty="0">
                <a:solidFill>
                  <a:schemeClr val="accent6">
                    <a:lumMod val="75000"/>
                  </a:schemeClr>
                </a:solidFill>
                <a:ea typeface="+mn-lt"/>
                <a:cs typeface="+mn-lt"/>
                <a:hlinkClick r:id="rId3">
                  <a:extLst>
                    <a:ext uri="{A12FA001-AC4F-418D-AE19-62706E023703}">
                      <ahyp:hlinkClr xmlns:ahyp="http://schemas.microsoft.com/office/drawing/2018/hyperlinkcolor" val="tx"/>
                    </a:ext>
                  </a:extLst>
                </a:hlinkClick>
              </a:rPr>
              <a:t>Microsoft Word - 178-JETM8743</a:t>
            </a:r>
            <a:endParaRPr lang="en-IN" dirty="0">
              <a:solidFill>
                <a:schemeClr val="accent6">
                  <a:lumMod val="75000"/>
                </a:schemeClr>
              </a:solidFill>
              <a:cs typeface="Sabon Next LT"/>
            </a:endParaRPr>
          </a:p>
        </p:txBody>
      </p:sp>
    </p:spTree>
    <p:extLst>
      <p:ext uri="{BB962C8B-B14F-4D97-AF65-F5344CB8AC3E}">
        <p14:creationId xmlns:p14="http://schemas.microsoft.com/office/powerpoint/2010/main" val="16862132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3EC8A-1733-CCF7-081F-EB4667CB3285}"/>
              </a:ext>
            </a:extLst>
          </p:cNvPr>
          <p:cNvSpPr>
            <a:spLocks noGrp="1"/>
          </p:cNvSpPr>
          <p:nvPr>
            <p:ph type="title"/>
          </p:nvPr>
        </p:nvSpPr>
        <p:spPr>
          <a:xfrm>
            <a:off x="983226" y="298001"/>
            <a:ext cx="8868697" cy="1012782"/>
          </a:xfrm>
        </p:spPr>
        <p:txBody>
          <a:bodyPr/>
          <a:lstStyle/>
          <a:p>
            <a:r>
              <a:rPr lang="en-US" sz="2800" dirty="0"/>
              <a:t>Real Time Sign Language Detection(2024)</a:t>
            </a:r>
            <a:br>
              <a:rPr lang="en-US" dirty="0"/>
            </a:br>
            <a:r>
              <a:rPr lang="en-IN" sz="1400" b="0" dirty="0" err="1">
                <a:hlinkClick r:id="rId3"/>
              </a:rPr>
              <a:t>Snitik</a:t>
            </a:r>
            <a:r>
              <a:rPr lang="en-IN" sz="1400" b="0" dirty="0">
                <a:hlinkClick r:id="rId3"/>
              </a:rPr>
              <a:t> Swaroop</a:t>
            </a:r>
            <a:r>
              <a:rPr lang="en-IN" sz="1400" b="0" dirty="0"/>
              <a:t>, </a:t>
            </a:r>
            <a:r>
              <a:rPr lang="en-IN" sz="1400" b="0" dirty="0" err="1">
                <a:hlinkClick r:id="rId4"/>
              </a:rPr>
              <a:t>Kurivella</a:t>
            </a:r>
            <a:r>
              <a:rPr lang="en-IN" sz="1400" b="0" dirty="0">
                <a:hlinkClick r:id="rId4"/>
              </a:rPr>
              <a:t> </a:t>
            </a:r>
            <a:r>
              <a:rPr lang="en-IN" sz="1400" b="0" dirty="0" err="1">
                <a:hlinkClick r:id="rId4"/>
              </a:rPr>
              <a:t>Yatindar</a:t>
            </a:r>
            <a:r>
              <a:rPr lang="en-IN" sz="1400" b="0" dirty="0">
                <a:hlinkClick r:id="rId4"/>
              </a:rPr>
              <a:t> Prasad</a:t>
            </a:r>
            <a:r>
              <a:rPr lang="en-IN" sz="1400" b="0" dirty="0"/>
              <a:t>, </a:t>
            </a:r>
            <a:r>
              <a:rPr lang="en-IN" sz="1400" b="0" dirty="0">
                <a:hlinkClick r:id="rId5"/>
              </a:rPr>
              <a:t>G Sai Srikar Reddy</a:t>
            </a:r>
            <a:r>
              <a:rPr lang="en-IN" sz="1400" b="0" dirty="0"/>
              <a:t>, </a:t>
            </a:r>
            <a:r>
              <a:rPr lang="en-IN" sz="1400" b="0" dirty="0">
                <a:hlinkClick r:id="rId6"/>
              </a:rPr>
              <a:t>Mahathi </a:t>
            </a:r>
            <a:r>
              <a:rPr lang="en-IN" sz="1400" b="0" dirty="0" err="1">
                <a:hlinkClick r:id="rId6"/>
              </a:rPr>
              <a:t>Rachavelpula</a:t>
            </a:r>
            <a:r>
              <a:rPr lang="en-IN" sz="1400" b="0" dirty="0"/>
              <a:t>, </a:t>
            </a:r>
            <a:r>
              <a:rPr lang="en-IN" sz="1400" b="0" dirty="0">
                <a:hlinkClick r:id="rId7"/>
              </a:rPr>
              <a:t>Usha A. </a:t>
            </a:r>
            <a:r>
              <a:rPr lang="en-IN" sz="1400" b="0" dirty="0" err="1">
                <a:hlinkClick r:id="rId7"/>
              </a:rPr>
              <a:t>Jogalekar</a:t>
            </a:r>
            <a:endParaRPr lang="en-US" sz="1400" dirty="0"/>
          </a:p>
        </p:txBody>
      </p:sp>
      <p:sp>
        <p:nvSpPr>
          <p:cNvPr id="4" name="Content Placeholder 3">
            <a:extLst>
              <a:ext uri="{FF2B5EF4-FFF2-40B4-BE49-F238E27FC236}">
                <a16:creationId xmlns:a16="http://schemas.microsoft.com/office/drawing/2014/main" id="{ACE55D3D-AA24-CF53-6679-29B3C83F7646}"/>
              </a:ext>
            </a:extLst>
          </p:cNvPr>
          <p:cNvSpPr>
            <a:spLocks noGrp="1"/>
          </p:cNvSpPr>
          <p:nvPr>
            <p:ph idx="13"/>
          </p:nvPr>
        </p:nvSpPr>
        <p:spPr>
          <a:xfrm>
            <a:off x="462115" y="2331791"/>
            <a:ext cx="8573729" cy="3721817"/>
          </a:xfrm>
        </p:spPr>
        <p:txBody>
          <a:bodyPr>
            <a:normAutofit/>
          </a:bodyPr>
          <a:lstStyle/>
          <a:p>
            <a:pPr marL="342900" indent="-342900">
              <a:buFont typeface="Arial" panose="020B0604020202020204" pitchFamily="34" charset="0"/>
              <a:buChar char="•"/>
            </a:pPr>
            <a:r>
              <a:rPr lang="en-US" sz="2000" dirty="0">
                <a:solidFill>
                  <a:schemeClr val="tx2"/>
                </a:solidFill>
              </a:rPr>
              <a:t>This paper proposes a comprehensive real-time sign language detection system aimed at bridging the communication gap between spoken and sign language users. </a:t>
            </a:r>
          </a:p>
          <a:p>
            <a:pPr marL="342900" indent="-342900">
              <a:buFont typeface="Arial" panose="020B0604020202020204" pitchFamily="34" charset="0"/>
              <a:buChar char="•"/>
            </a:pPr>
            <a:r>
              <a:rPr lang="en-US" sz="2000" dirty="0">
                <a:solidFill>
                  <a:schemeClr val="tx2"/>
                </a:solidFill>
              </a:rPr>
              <a:t>The methodology involves creating a well-annotated dataset of diverse sign language gestures using OpenCV and the annotation tool </a:t>
            </a:r>
            <a:r>
              <a:rPr lang="en-US" sz="2000" dirty="0" err="1">
                <a:solidFill>
                  <a:schemeClr val="tx2"/>
                </a:solidFill>
              </a:rPr>
              <a:t>LabelImg</a:t>
            </a:r>
            <a:r>
              <a:rPr lang="en-US" sz="2000" dirty="0">
                <a:solidFill>
                  <a:schemeClr val="tx2"/>
                </a:solidFill>
              </a:rPr>
              <a:t>. </a:t>
            </a:r>
          </a:p>
          <a:p>
            <a:pPr marL="342900" indent="-342900">
              <a:buFont typeface="Arial" panose="020B0604020202020204" pitchFamily="34" charset="0"/>
              <a:buChar char="•"/>
            </a:pPr>
            <a:r>
              <a:rPr lang="en-US" sz="2000" dirty="0">
                <a:solidFill>
                  <a:schemeClr val="tx2"/>
                </a:solidFill>
              </a:rPr>
              <a:t>The system follows a structured pipeline that includes data preprocessing, model design, training, and deployment for real-time gesture recognition. </a:t>
            </a:r>
          </a:p>
          <a:p>
            <a:pPr marL="342900" indent="-342900">
              <a:buFont typeface="Arial" panose="020B0604020202020204" pitchFamily="34" charset="0"/>
              <a:buChar char="•"/>
            </a:pPr>
            <a:r>
              <a:rPr lang="en-US" sz="2000" dirty="0">
                <a:solidFill>
                  <a:schemeClr val="tx2"/>
                </a:solidFill>
              </a:rPr>
              <a:t>The study demonstrates that such technology can significantly enhance inclusivity, reduce communication barriers, and foster better understanding across different linguistic communities.</a:t>
            </a:r>
          </a:p>
        </p:txBody>
      </p:sp>
      <p:sp>
        <p:nvSpPr>
          <p:cNvPr id="9" name="TextBox 8">
            <a:extLst>
              <a:ext uri="{FF2B5EF4-FFF2-40B4-BE49-F238E27FC236}">
                <a16:creationId xmlns:a16="http://schemas.microsoft.com/office/drawing/2014/main" id="{ACA25305-6B3C-DA53-166D-38BC3FEAA444}"/>
              </a:ext>
            </a:extLst>
          </p:cNvPr>
          <p:cNvSpPr txBox="1"/>
          <p:nvPr/>
        </p:nvSpPr>
        <p:spPr>
          <a:xfrm>
            <a:off x="3141405" y="6036090"/>
            <a:ext cx="6105832" cy="369332"/>
          </a:xfrm>
          <a:prstGeom prst="rect">
            <a:avLst/>
          </a:prstGeom>
          <a:noFill/>
        </p:spPr>
        <p:txBody>
          <a:bodyPr wrap="square">
            <a:spAutoFit/>
          </a:bodyPr>
          <a:lstStyle/>
          <a:p>
            <a:r>
              <a:rPr lang="en-IN" dirty="0">
                <a:hlinkClick r:id="rId8"/>
              </a:rPr>
              <a:t>https://ieeexplore.ieee.org/abstract/document/10467736</a:t>
            </a:r>
            <a:endParaRPr lang="en-IN" dirty="0"/>
          </a:p>
        </p:txBody>
      </p:sp>
    </p:spTree>
    <p:extLst>
      <p:ext uri="{BB962C8B-B14F-4D97-AF65-F5344CB8AC3E}">
        <p14:creationId xmlns:p14="http://schemas.microsoft.com/office/powerpoint/2010/main" val="40721017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36FCF6-982C-CC37-9625-3EBFC7E7DD13}"/>
              </a:ext>
            </a:extLst>
          </p:cNvPr>
          <p:cNvSpPr>
            <a:spLocks noGrp="1"/>
          </p:cNvSpPr>
          <p:nvPr>
            <p:ph type="title"/>
          </p:nvPr>
        </p:nvSpPr>
        <p:spPr>
          <a:xfrm>
            <a:off x="1392491" y="292800"/>
            <a:ext cx="11110359" cy="980844"/>
          </a:xfrm>
        </p:spPr>
        <p:txBody>
          <a:bodyPr/>
          <a:lstStyle/>
          <a:p>
            <a:r>
              <a:rPr lang="en-US" sz="2800" b="0" dirty="0">
                <a:ea typeface="+mj-lt"/>
                <a:cs typeface="+mj-lt"/>
              </a:rPr>
              <a:t>An Intelligent Sign Language Interpretation System for Patient Communication(2022)</a:t>
            </a:r>
            <a:br>
              <a:rPr lang="en-US" b="0" dirty="0">
                <a:ea typeface="+mj-lt"/>
                <a:cs typeface="+mj-lt"/>
              </a:rPr>
            </a:br>
            <a:r>
              <a:rPr lang="en-US" sz="1200" b="0" dirty="0">
                <a:ea typeface="+mj-lt"/>
                <a:cs typeface="+mj-lt"/>
              </a:rPr>
              <a:t>By Syed Muhammad Hassan Zaidi, Syed Asif Ali, Imtiaz Hussain, Basit Hasan, Muhammad Ali</a:t>
            </a:r>
            <a:endParaRPr lang="en-US" sz="1200" dirty="0"/>
          </a:p>
        </p:txBody>
      </p:sp>
      <p:sp>
        <p:nvSpPr>
          <p:cNvPr id="4" name="Text Placeholder 3">
            <a:extLst>
              <a:ext uri="{FF2B5EF4-FFF2-40B4-BE49-F238E27FC236}">
                <a16:creationId xmlns:a16="http://schemas.microsoft.com/office/drawing/2014/main" id="{97DCC342-9FD1-7055-EAAC-008DC851B13F}"/>
              </a:ext>
            </a:extLst>
          </p:cNvPr>
          <p:cNvSpPr>
            <a:spLocks noGrp="1"/>
          </p:cNvSpPr>
          <p:nvPr>
            <p:ph type="body" sz="quarter" idx="13"/>
          </p:nvPr>
        </p:nvSpPr>
        <p:spPr>
          <a:xfrm>
            <a:off x="1392491" y="1928559"/>
            <a:ext cx="9787266" cy="3000882"/>
          </a:xfrm>
        </p:spPr>
        <p:txBody>
          <a:bodyPr/>
          <a:lstStyle/>
          <a:p>
            <a:pPr marL="285750" indent="-285750">
              <a:buFont typeface="Arial" panose="020B0604020202020204" pitchFamily="34" charset="0"/>
              <a:buChar char="•"/>
            </a:pPr>
            <a:r>
              <a:rPr lang="en-US" dirty="0">
                <a:solidFill>
                  <a:schemeClr val="tx2"/>
                </a:solidFill>
                <a:ea typeface="+mn-lt"/>
                <a:cs typeface="+mn-lt"/>
              </a:rPr>
              <a:t>This study introduces a real-time sign language interpretation system to improve communication between patients and healthcare providers.</a:t>
            </a:r>
          </a:p>
          <a:p>
            <a:pPr marL="285750" indent="-285750">
              <a:buFont typeface="Arial" panose="020B0604020202020204" pitchFamily="34" charset="0"/>
              <a:buChar char="•"/>
            </a:pPr>
            <a:r>
              <a:rPr lang="en-US" dirty="0">
                <a:solidFill>
                  <a:schemeClr val="tx2"/>
                </a:solidFill>
                <a:ea typeface="+mn-lt"/>
                <a:cs typeface="+mn-lt"/>
              </a:rPr>
              <a:t> The system uses computer vision and deep learning, with OpenCV for preprocessing and </a:t>
            </a:r>
            <a:r>
              <a:rPr lang="en-US" dirty="0" err="1">
                <a:solidFill>
                  <a:schemeClr val="tx2"/>
                </a:solidFill>
                <a:ea typeface="+mn-lt"/>
                <a:cs typeface="+mn-lt"/>
              </a:rPr>
              <a:t>MediaPipe</a:t>
            </a:r>
            <a:r>
              <a:rPr lang="en-US" dirty="0">
                <a:solidFill>
                  <a:schemeClr val="tx2"/>
                </a:solidFill>
                <a:ea typeface="+mn-lt"/>
                <a:cs typeface="+mn-lt"/>
              </a:rPr>
              <a:t> for extracting hand landmarks. </a:t>
            </a:r>
          </a:p>
          <a:p>
            <a:pPr marL="285750" indent="-285750">
              <a:buFont typeface="Arial" panose="020B0604020202020204" pitchFamily="34" charset="0"/>
              <a:buChar char="•"/>
            </a:pPr>
            <a:r>
              <a:rPr lang="en-US" dirty="0">
                <a:solidFill>
                  <a:schemeClr val="tx2"/>
                </a:solidFill>
                <a:ea typeface="+mn-lt"/>
                <a:cs typeface="+mn-lt"/>
              </a:rPr>
              <a:t>A CNN model trained with Google’s Teachable Machine recognizes seven medically relevant gestures such as </a:t>
            </a:r>
            <a:r>
              <a:rPr lang="en-US" i="1" dirty="0">
                <a:solidFill>
                  <a:schemeClr val="tx2"/>
                </a:solidFill>
                <a:ea typeface="+mn-lt"/>
                <a:cs typeface="+mn-lt"/>
              </a:rPr>
              <a:t>Doctor, Cough, Injection</a:t>
            </a:r>
            <a:r>
              <a:rPr lang="en-US" dirty="0">
                <a:solidFill>
                  <a:schemeClr val="tx2"/>
                </a:solidFill>
                <a:ea typeface="+mn-lt"/>
                <a:cs typeface="+mn-lt"/>
              </a:rPr>
              <a:t>, etc. </a:t>
            </a:r>
          </a:p>
          <a:p>
            <a:pPr marL="285750" indent="-285750">
              <a:buFont typeface="Arial" panose="020B0604020202020204" pitchFamily="34" charset="0"/>
              <a:buChar char="•"/>
            </a:pPr>
            <a:r>
              <a:rPr lang="en-US" dirty="0">
                <a:solidFill>
                  <a:schemeClr val="tx2"/>
                </a:solidFill>
                <a:ea typeface="+mn-lt"/>
                <a:cs typeface="+mn-lt"/>
              </a:rPr>
              <a:t>The model achieved </a:t>
            </a:r>
            <a:r>
              <a:rPr lang="en-US" b="1" dirty="0">
                <a:solidFill>
                  <a:schemeClr val="tx2"/>
                </a:solidFill>
                <a:ea typeface="+mn-lt"/>
                <a:cs typeface="+mn-lt"/>
              </a:rPr>
              <a:t>82% overall accuracy</a:t>
            </a:r>
            <a:r>
              <a:rPr lang="en-US" dirty="0">
                <a:solidFill>
                  <a:schemeClr val="tx2"/>
                </a:solidFill>
                <a:ea typeface="+mn-lt"/>
                <a:cs typeface="+mn-lt"/>
              </a:rPr>
              <a:t>, with some gestures reaching up to </a:t>
            </a:r>
            <a:r>
              <a:rPr lang="en-US" b="1" dirty="0">
                <a:solidFill>
                  <a:schemeClr val="tx2"/>
                </a:solidFill>
                <a:ea typeface="+mn-lt"/>
                <a:cs typeface="+mn-lt"/>
              </a:rPr>
              <a:t>97% recognition</a:t>
            </a:r>
            <a:r>
              <a:rPr lang="en-US" dirty="0">
                <a:solidFill>
                  <a:schemeClr val="tx2"/>
                </a:solidFill>
                <a:ea typeface="+mn-lt"/>
                <a:cs typeface="+mn-lt"/>
              </a:rPr>
              <a:t> in real-time. </a:t>
            </a:r>
          </a:p>
          <a:p>
            <a:pPr marL="285750" indent="-285750">
              <a:buFont typeface="Arial" panose="020B0604020202020204" pitchFamily="34" charset="0"/>
              <a:buChar char="•"/>
            </a:pPr>
            <a:r>
              <a:rPr lang="en-US" dirty="0">
                <a:solidFill>
                  <a:schemeClr val="tx2"/>
                </a:solidFill>
                <a:ea typeface="+mn-lt"/>
                <a:cs typeface="+mn-lt"/>
              </a:rPr>
              <a:t>Its modular design and strong performance in varied conditions make it a practical assistive technology for healthcare, ensuring better accessibility for the deaf and hard-of-hearing community.</a:t>
            </a:r>
            <a:br>
              <a:rPr lang="en-US" dirty="0">
                <a:ea typeface="+mn-lt"/>
                <a:cs typeface="+mn-lt"/>
              </a:rPr>
            </a:br>
            <a:endParaRPr lang="en-US" dirty="0">
              <a:ea typeface="+mn-lt"/>
              <a:cs typeface="+mn-lt"/>
            </a:endParaRPr>
          </a:p>
          <a:p>
            <a:br>
              <a:rPr lang="en-US" dirty="0">
                <a:cs typeface="Sabon Next LT"/>
              </a:rPr>
            </a:br>
            <a:r>
              <a:rPr lang="en-US" dirty="0">
                <a:solidFill>
                  <a:schemeClr val="accent6">
                    <a:lumMod val="75000"/>
                  </a:schemeClr>
                </a:solidFill>
                <a:ea typeface="+mn-lt"/>
                <a:cs typeface="+mn-lt"/>
                <a:hlinkClick r:id="rId3">
                  <a:extLst>
                    <a:ext uri="{A12FA001-AC4F-418D-AE19-62706E023703}">
                      <ahyp:hlinkClr xmlns:ahyp="http://schemas.microsoft.com/office/drawing/2018/hyperlinkcolor" val="tx"/>
                    </a:ext>
                  </a:extLst>
                </a:hlinkClick>
              </a:rPr>
              <a:t>An Intelligent Sign Language Interpretation System for Patient Communication | Global Research Journal of Natural Science and Technology</a:t>
            </a:r>
            <a:endParaRPr lang="en-US" dirty="0">
              <a:solidFill>
                <a:schemeClr val="accent6">
                  <a:lumMod val="75000"/>
                </a:schemeClr>
              </a:solidFill>
            </a:endParaRPr>
          </a:p>
          <a:p>
            <a:endParaRPr lang="en-US" dirty="0">
              <a:cs typeface="Sabon Next LT"/>
            </a:endParaRPr>
          </a:p>
        </p:txBody>
      </p:sp>
    </p:spTree>
    <p:extLst>
      <p:ext uri="{BB962C8B-B14F-4D97-AF65-F5344CB8AC3E}">
        <p14:creationId xmlns:p14="http://schemas.microsoft.com/office/powerpoint/2010/main" val="3969996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398586" y="849782"/>
            <a:ext cx="6840415" cy="1942263"/>
          </a:xfrm>
        </p:spPr>
        <p:txBody>
          <a:bodyPr/>
          <a:lstStyle/>
          <a:p>
            <a:r>
              <a:rPr lang="en-US" dirty="0"/>
              <a:t>Thank you!</a:t>
            </a:r>
          </a:p>
        </p:txBody>
      </p:sp>
      <p:sp>
        <p:nvSpPr>
          <p:cNvPr id="5" name="Subtitle 4">
            <a:extLst>
              <a:ext uri="{FF2B5EF4-FFF2-40B4-BE49-F238E27FC236}">
                <a16:creationId xmlns:a16="http://schemas.microsoft.com/office/drawing/2014/main" id="{91D82F2B-B2E3-0ADD-0F13-0FA4B412BC7D}"/>
              </a:ext>
            </a:extLst>
          </p:cNvPr>
          <p:cNvSpPr>
            <a:spLocks noGrp="1"/>
          </p:cNvSpPr>
          <p:nvPr>
            <p:ph type="subTitle" idx="1"/>
          </p:nvPr>
        </p:nvSpPr>
        <p:spPr>
          <a:xfrm>
            <a:off x="635506" y="4074478"/>
            <a:ext cx="5423624" cy="2234642"/>
          </a:xfrm>
        </p:spPr>
        <p:txBody>
          <a:bodyPr/>
          <a:lstStyle/>
          <a:p>
            <a:r>
              <a:rPr lang="en-US" dirty="0">
                <a:cs typeface="Sabon Next LT"/>
              </a:rPr>
              <a:t>2410030076 - SREEJA KODALI</a:t>
            </a:r>
            <a:br>
              <a:rPr lang="en-US" dirty="0">
                <a:cs typeface="Sabon Next LT"/>
              </a:rPr>
            </a:br>
            <a:r>
              <a:rPr lang="en-US" dirty="0">
                <a:cs typeface="Sabon Next LT"/>
              </a:rPr>
              <a:t>2410030228 - BIJJU ADITHI YADAV</a:t>
            </a:r>
            <a:br>
              <a:rPr lang="en-US" dirty="0">
                <a:cs typeface="Sabon Next LT"/>
              </a:rPr>
            </a:br>
            <a:r>
              <a:rPr lang="en-US" dirty="0">
                <a:cs typeface="Sabon Next LT"/>
              </a:rPr>
              <a:t>2410030229 - LIKITHA THUMMA</a:t>
            </a:r>
            <a:br>
              <a:rPr lang="en-US" dirty="0">
                <a:cs typeface="Sabon Next LT"/>
              </a:rPr>
            </a:br>
            <a:r>
              <a:rPr lang="en-US" dirty="0">
                <a:cs typeface="Sabon Next LT"/>
              </a:rPr>
              <a:t>2410030232 - ESHA MANOGNA .H</a:t>
            </a:r>
            <a:br>
              <a:rPr lang="en-US" dirty="0">
                <a:cs typeface="Sabon Next LT"/>
              </a:rPr>
            </a:br>
            <a:r>
              <a:rPr lang="en-US" dirty="0">
                <a:cs typeface="Sabon Next LT"/>
              </a:rPr>
              <a:t>2410030430 - MALREDDY MANOGNA</a:t>
            </a:r>
            <a:endParaRPr lang="en-US" dirty="0"/>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{945C3EA8-D03D-4DBF-ADAA-2728F6C8A667}tf78438558_win32</Template>
  <TotalTime>86</TotalTime>
  <Words>1686</Words>
  <Application>Microsoft Office PowerPoint</Application>
  <PresentationFormat>Widescreen</PresentationFormat>
  <Paragraphs>72</Paragraphs>
  <Slides>12</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Arial Black</vt:lpstr>
      <vt:lpstr>Calibri</vt:lpstr>
      <vt:lpstr>Noto Sans</vt:lpstr>
      <vt:lpstr>Sabon Next LT</vt:lpstr>
      <vt:lpstr>Custom</vt:lpstr>
      <vt:lpstr>Sign Language detection system </vt:lpstr>
      <vt:lpstr>Deepsign: Sign Language Detection and Recognition Using Deep Learning(2022) By Deep Kothadiya, Chintan Bhatt, Krenil Sapariya, Kevin Patel, Ana Belen</vt:lpstr>
      <vt:lpstr>Sign Language Detection System Using YOLOv5 Algorithm to Promote Communication Equality People with Disabilities(2024) By Maylinna Rahayu Ningsih, Yopi Julia Nurriski, M. Faris Al Hakim </vt:lpstr>
      <vt:lpstr>Sign Language Detection and Recognition Using Media Pipe and Deep Learning Algorithm(2024) By:  Ms. E. J. Honesty Praiselin, Dr. G. Manikandan, Ms. Vilma Veronica, Ms. S. Hemalatha</vt:lpstr>
      <vt:lpstr>PowerPoint Presentation</vt:lpstr>
      <vt:lpstr>Sign language detection using convolutional neural network(2024) By Rohini V, Adithya V, Rajesh R, Amrutha K</vt:lpstr>
      <vt:lpstr>Sign Language: A Systematic Review on Classification and Recognition(2024) By S. Renjith &amp; Rashmi Manazhy</vt:lpstr>
      <vt:lpstr>American Sign Language Recognition System for Numerical and Alphabets(2023) </vt:lpstr>
      <vt:lpstr>Hand Gesture Sign Language   Recognition through Machine Learning(2024) BY Dr. Mahesh Kumar Porwal,  Mr. Nishant Porwal, </vt:lpstr>
      <vt:lpstr>Real Time Sign Language Detection(2024) Snitik Swaroop, Kurivella Yatindar Prasad, G Sai Srikar Reddy, Mahathi Rachavelpula, Usha A. Jogalekar</vt:lpstr>
      <vt:lpstr>An Intelligent Sign Language Interpretation System for Patient Communication(2022) By Syed Muhammad Hassan Zaidi, Syed Asif Ali, Imtiaz Hussain, Basit Hasan, Muhammad Ali</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Manogna Reddy</dc:creator>
  <cp:lastModifiedBy>Naga Sreeja Kodali</cp:lastModifiedBy>
  <cp:revision>6</cp:revision>
  <dcterms:created xsi:type="dcterms:W3CDTF">2025-08-18T14:46:11Z</dcterms:created>
  <dcterms:modified xsi:type="dcterms:W3CDTF">2025-08-19T09:49:51Z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